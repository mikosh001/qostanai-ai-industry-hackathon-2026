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mp4" ContentType="video/mp4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6f02b660ca4283" /><Relationship Type="http://schemas.openxmlformats.org/officeDocument/2006/relationships/extended-properties" Target="/docProps/app.xml" Id="R539577d7f9ac467c" /><Relationship Type="http://schemas.openxmlformats.org/officeDocument/2006/relationships/officeDocument" Target="/ppt/presentation.xml" Id="R1912a57575f047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06a4b45b334c5c"/>
  </p:sldMasterIdLst>
  <p:notesMasterIdLst>
    <p:notesMasterId xmlns:r="http://schemas.openxmlformats.org/officeDocument/2006/relationships" r:id="R206df7f425df40b3"/>
  </p:notesMasterIdLst>
  <p:sldIdLst>
    <p:sldId xmlns:r="http://schemas.openxmlformats.org/officeDocument/2006/relationships" id="256" r:id="R350b833489df4c21"/>
    <p:sldId xmlns:r="http://schemas.openxmlformats.org/officeDocument/2006/relationships" id="257" r:id="R9f3ab778865b4756"/>
    <p:sldId xmlns:r="http://schemas.openxmlformats.org/officeDocument/2006/relationships" id="258" r:id="R012e5df0d47e49b2"/>
    <p:sldId xmlns:r="http://schemas.openxmlformats.org/officeDocument/2006/relationships" id="259" r:id="R54445ae293a9425e"/>
    <p:sldId xmlns:r="http://schemas.openxmlformats.org/officeDocument/2006/relationships" id="260" r:id="R6a489ed1743b40ae"/>
    <p:sldId xmlns:r="http://schemas.openxmlformats.org/officeDocument/2006/relationships" id="261" r:id="R6bc7c7117256400a"/>
    <p:sldId xmlns:r="http://schemas.openxmlformats.org/officeDocument/2006/relationships" id="262" r:id="Rd0034bebc81749bb"/>
    <p:sldId xmlns:r="http://schemas.openxmlformats.org/officeDocument/2006/relationships" id="263" r:id="R5013ede7fd474510"/>
    <p:sldId xmlns:r="http://schemas.openxmlformats.org/officeDocument/2006/relationships" id="264" r:id="R8d4d07eb2a184abd"/>
    <p:sldId xmlns:r="http://schemas.openxmlformats.org/officeDocument/2006/relationships" id="265" r:id="R0df1f4d3f95a4662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2b058ef5d04e3e" /><Relationship Type="http://schemas.openxmlformats.org/officeDocument/2006/relationships/slideMaster" Target="/ppt/slideMasters/slideMaster1.xml" Id="R4e06a4b45b334c5c" /><Relationship Type="http://schemas.openxmlformats.org/officeDocument/2006/relationships/notesMaster" Target="/ppt/notesMasters/notesMaster1.xml" Id="R206df7f425df40b3" /><Relationship Type="http://schemas.openxmlformats.org/officeDocument/2006/relationships/presProps" Target="/ppt/presProps.xml" Id="Reb0021036bfa4968" /><Relationship Type="http://schemas.openxmlformats.org/officeDocument/2006/relationships/tableStyles" Target="/ppt/tableStyles.xml" Id="Rb68140b1e88c42ce" /><Relationship Type="http://schemas.openxmlformats.org/officeDocument/2006/relationships/slide" Target="/ppt/slides/slide1.xml" Id="R350b833489df4c21" /><Relationship Type="http://schemas.openxmlformats.org/officeDocument/2006/relationships/slide" Target="/ppt/slides/slide2.xml" Id="R9f3ab778865b4756" /><Relationship Type="http://schemas.openxmlformats.org/officeDocument/2006/relationships/slide" Target="/ppt/slides/slide3.xml" Id="R012e5df0d47e49b2" /><Relationship Type="http://schemas.openxmlformats.org/officeDocument/2006/relationships/slide" Target="/ppt/slides/slide4.xml" Id="R54445ae293a9425e" /><Relationship Type="http://schemas.openxmlformats.org/officeDocument/2006/relationships/slide" Target="/ppt/slides/slide5.xml" Id="R6a489ed1743b40ae" /><Relationship Type="http://schemas.openxmlformats.org/officeDocument/2006/relationships/slide" Target="/ppt/slides/slide6.xml" Id="R6bc7c7117256400a" /><Relationship Type="http://schemas.openxmlformats.org/officeDocument/2006/relationships/slide" Target="/ppt/slides/slide7.xml" Id="Rd0034bebc81749bb" /><Relationship Type="http://schemas.openxmlformats.org/officeDocument/2006/relationships/slide" Target="/ppt/slides/slide8.xml" Id="R5013ede7fd474510" /><Relationship Type="http://schemas.openxmlformats.org/officeDocument/2006/relationships/slide" Target="/ppt/slides/slide9.xml" Id="R8d4d07eb2a184abd" /><Relationship Type="http://schemas.openxmlformats.org/officeDocument/2006/relationships/slide" Target="/ppt/slides/slide10.xml" Id="R0df1f4d3f95a46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c1471329b14a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1dc2f9f9394426" /><Relationship Type="http://schemas.openxmlformats.org/officeDocument/2006/relationships/notesMaster" Target="/ppt/notesMasters/notesMaster1.xml" Id="Rd06a1f9fd65043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3ebec272794d9d" /><Relationship Type="http://schemas.openxmlformats.org/officeDocument/2006/relationships/notesMaster" Target="/ppt/notesMasters/notesMaster1.xml" Id="R6729b5febd8c49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9039f72ad94bfe" /><Relationship Type="http://schemas.openxmlformats.org/officeDocument/2006/relationships/notesMaster" Target="/ppt/notesMasters/notesMaster1.xml" Id="Ree3115d1d79b44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13329ebba24167" /><Relationship Type="http://schemas.openxmlformats.org/officeDocument/2006/relationships/notesMaster" Target="/ppt/notesMasters/notesMaster1.xml" Id="R220f336a56984f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87aa9a701a4fca" /><Relationship Type="http://schemas.openxmlformats.org/officeDocument/2006/relationships/notesMaster" Target="/ppt/notesMasters/notesMaster1.xml" Id="Ra10bba25db3a43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3ec43262ac4b66" /><Relationship Type="http://schemas.openxmlformats.org/officeDocument/2006/relationships/notesMaster" Target="/ppt/notesMasters/notesMaster1.xml" Id="Rc3663465e2a246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c95c0ebebe448b" /><Relationship Type="http://schemas.openxmlformats.org/officeDocument/2006/relationships/notesMaster" Target="/ppt/notesMasters/notesMaster1.xml" Id="R44163a95234d40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44aff3ee0a4869" /><Relationship Type="http://schemas.openxmlformats.org/officeDocument/2006/relationships/notesMaster" Target="/ppt/notesMasters/notesMaster1.xml" Id="R870eb3c0da574d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6a2f71421d4608" /><Relationship Type="http://schemas.openxmlformats.org/officeDocument/2006/relationships/notesMaster" Target="/ppt/notesMasters/notesMaster1.xml" Id="R25e3bf8c1417409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addb7f9d5448e0" /><Relationship Type="http://schemas.openxmlformats.org/officeDocument/2006/relationships/notesMaster" Target="/ppt/notesMasters/notesMaster1.xml" Id="R87eb7150ff5941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Спикер 1 / 0–12 сек</a:t>
            </a:r>
          </a:p>
          <a:p xmlns:a="http://schemas.openxmlformats.org/drawingml/2006/main">
            <a:r>
              <a:t>Открыт Moodle. Рядом телефон с ответами. Как доверять результату экзамена? Мы команда Sergек из Astana IT University. Наш проект защищает условия, в которых студент получает оценку.</a:t>
            </a:r>
          </a:p>
          <a:p xmlns:a="http://schemas.openxmlformats.org/drawingml/2006/main">
            <a:r>
              <a:t>Действие: Начать спокойно. Посмотреть на жюри. Короткая пауза после вопроса.</a:t>
            </a:r>
          </a:p>
          <a:p xmlns:a="http://schemas.openxmlformats.org/drawingml/2006/main">
            <a:r>
              <a:t>Фон: ранее созданная концептуальная иллюстрация проекта. Не фотография реального внедрения.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Спикер 1 / 12–25 сек</a:t>
            </a:r>
          </a:p>
          <a:p xmlns:a="http://schemas.openxmlformats.org/drawingml/2006/main">
            <a:r>
              <a:t>В кейсе КРУ важно увидеть телефон, постороннюю помощь и попытку выйти из рабочей среды. Преподавателю нужен понятный эпизод с доказательством, чтобы быстро проверить ситуацию.</a:t>
            </a:r>
          </a:p>
          <a:p xmlns:a="http://schemas.openxmlformats.org/drawingml/2006/main">
            <a:r>
              <a:t>Действие: Не перечислять весь интерфейс. Связать каждый риск с задачей университета.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Спикер 1 / 25–43 сек</a:t>
            </a:r>
          </a:p>
          <a:p xmlns:a="http://schemas.openxmlformats.org/drawingml/2006/main">
            <a:r>
              <a:t>Sergек связывает Moodle с локальным AI и защитой Windows. Камера анализирует телефон, лицо и взгляд, микрофон отслеживает устойчивую звуковую активность. Агент ограничивает приложения, USB и удалённый доступ. Начало защиты привязано к попытке теста.</a:t>
            </a:r>
          </a:p>
          <a:p xmlns:a="http://schemas.openxmlformats.org/drawingml/2006/main">
            <a:r>
              <a:t>Действие: На словах «попытке теста» передать оператору знак для видео.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Спикер 1 / 43–83 сек</a:t>
            </a:r>
          </a:p>
          <a:p xmlns:a="http://schemas.openxmlformats.org/drawingml/2006/main">
            <a:r>
              <a:t>Покажем путь студента: он входит в Moodle под своим аккаунтом. Перед экзаменом делает фото — оно используется для проверки личности во время теста. С началом теста включается контроль. Sergек объединяет камеру, звук, запись экрана и защиту рабочего места. Появился телефон — студент сразу получает предупреждение. Приоритет проверки растёт с длительностью события: пять, десять, пятнадцать баллов. После сдачи преподаватель начинает с важных эпизодов: открывает событие, смотрит запись экрана и оценивает, что произошло. Система фиксирует события. Решение принимает преподаватель. Результат проверки сохраняется в журнале.</a:t>
            </a:r>
          </a:p>
          <a:p xmlns:a="http://schemas.openxmlformats.org/drawingml/2006/main">
            <a:r>
              <a:t>Действие: Говорить синхронно с видео, не быстрее кадра. На последней фразе повернуться ко второму спикеру.</a:t>
            </a:r>
          </a:p>
          <a:p xmlns:a="http://schemas.openxmlformats.org/drawingml/2006/main">
            <a:r>
              <a:t>Реальный интерфейс, локальный Moodle и фото с размытым общедоступным тестовым портретом. Телефонный эпизод использует контрольный вход правила. Глобальная защита Windows во время записи отключена. Лицо пользователя и частные QA-записи не используются.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Спикер 2 / 83–103 сек</a:t>
            </a:r>
          </a:p>
          <a:p xmlns:a="http://schemas.openxmlformats.org/drawingml/2006/main">
            <a:r>
              <a:t>Наш ключевой акцент — предупреждение сразу и оценка по длительности. Телефон: пять баллов при уверенном обнаружении, затем десять, пятнадцать и двадцать. Это общий балл одного эпизода. Взгляд оцениваем после пяти секунд, краткий проход преподавателя баллов не добавляет.</a:t>
            </a:r>
          </a:p>
          <a:p xmlns:a="http://schemas.openxmlformats.org/drawingml/2006/main">
            <a:r>
              <a:t>Действие: Показать рукой одну строку шкалы. Числа произносить чётко. Не читать каждую ячейку.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Спикер 2 / 103–119 сек</a:t>
            </a:r>
          </a:p>
          <a:p xmlns:a="http://schemas.openxmlformats.org/drawingml/2006/main">
            <a:r>
              <a:t>В панели первыми идут сессии, требующие внимания. Преподаватель открывает время, историю эпизода и запись. Заблокированные действия вынесены в технический журнал. Решение принимает человек. Шифрование и проверка целостности защищают материалы.</a:t>
            </a:r>
          </a:p>
          <a:p xmlns:a="http://schemas.openxmlformats.org/drawingml/2006/main">
            <a:r>
              <a:t>Действие: Назвать результат для преподавателя. Не называть баллы доказательством вины.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Спикер 2 / 119–135 сек</a:t>
            </a:r>
          </a:p>
          <a:p xmlns:a="http://schemas.openxmlformats.org/drawingml/2006/main">
            <a:r>
              <a:t>Наше предложение для КРУ — локальный анализ, хаб на инфраструктуре вуза и открытый код. Собственный инженерный вклад — связка подписанного допуска, защиты рабочего места и объяснимой очереди проверки. Интерфейс доступен на трёх языках.</a:t>
            </a:r>
          </a:p>
          <a:p xmlns:a="http://schemas.openxmlformats.org/drawingml/2006/main">
            <a:r>
              <a:t>Действие: Не заявлять, что у конкурентов нет функции, если этого не проверяли.</a:t>
            </a:r>
          </a:p>
          <a:p xmlns:a="http://schemas.openxmlformats.org/drawingml/2006/main">
            <a:r>
              <a:t>Источники: https://oes.kz/ и https://safeexambrowser.org/about_overview_en.html, 15.10.2026. Таблица показывает позиционирование, не бенчмарк превосходства. Функции OES не объявляем отсутствующими.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Спикер 2 / 135–150 сек</a:t>
            </a:r>
          </a:p>
          <a:p xmlns:a="http://schemas.openxmlformats.org/drawingml/2006/main">
            <a:r>
              <a:t>Мы проверили 249 сценариев серверной логики и 17 сценариев интерфейса. Полный тест Moodle из пяти вопросов завершён. В нагрузочном испытании хаба сто синтетических сессий завершились без ошибок. Протоколы воспроизводимы.</a:t>
            </a:r>
          </a:p>
          <a:p xmlns:a="http://schemas.openxmlformats.org/drawingml/2006/main">
            <a:r>
              <a:t>Действие: Слово «синтетических» обязательно. Не суммировать проверки из разных сборок.</a:t>
            </a:r>
          </a:p>
          <a:p xmlns:a="http://schemas.openxmlformats.org/drawingml/2006/main">
            <a:r>
              <a:t>Источник: docs/TEST-DURATION-SCORING-2026-10-15.md и tests/results/duration-scoring/2026-10-15.json. 249 backend + 17 UI. Реальный Moodle: программный профиль. Хаб: 32 сек, 4 драйвера, 100 синтетических сессий, 3524 запроса, lease p95 82.63мс. Отдельные физические OS/камеры не входят.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Спикер 2 / 150–165 сек</a:t>
            </a:r>
          </a:p>
          <a:p xmlns:a="http://schemas.openxmlformats.org/drawingml/2006/main">
            <a:r>
              <a:t>Для подключения администратор устанавливает хаб, плагин Moodle и агент на подготовленные компьютеры. Аккаунты и вопросы остаются в Moodle. Предлагаем пилот на тридцати местах и двух экзаменах с измерением завершения и времени проверки.</a:t>
            </a:r>
          </a:p>
          <a:p xmlns:a="http://schemas.openxmlformats.org/drawingml/2006/main">
            <a:r>
              <a:t>Действие: Это предложение пилота. Подчеркнуть сохранение привычного Moodle.</a:t>
            </a:r>
          </a:p>
          <a:p xmlns:a="http://schemas.openxmlformats.org/drawingml/2006/main">
            <a:r>
              <a:t>30 мест, 2 экзамена — предложение пилота, не проведённое внедрение.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Спикер 2 / 165–175 сек</a:t>
            </a:r>
          </a:p>
          <a:p xmlns:a="http://schemas.openxmlformats.org/drawingml/2006/main">
            <a:r>
              <a:t>Sergек помогает остановить риск сразу и даёт преподавателю проверяемый контекст. Мы готовы вместе с КРУ провести пилот. Спасибо, готовы к вопросам.</a:t>
            </a:r>
          </a:p>
          <a:p xmlns:a="http://schemas.openxmlformats.org/drawingml/2006/main">
            <a:r>
              <a:t>Действие: Закончить в 02:55. Смотреть на жюри, не на экран.</a:t>
            </a:r>
          </a:p>
          <a:p xmlns:a="http://schemas.openxmlformats.org/drawingml/2006/main">
            <a:r>
              <a:t>Фон: ранее созданная концептуальная иллюстрация проекта. Не фотография реального внедрения.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96d972ccc8421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e1f1b02cc04db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3d29956b0743f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01238b36ef42a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8ffef422fe43c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b1367645564d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FB9730-0070-43F6-9F70-9E916F1DE8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E35C13D-3246-433E-98BA-7B9ED34C0F9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DD9267F-2EAB-4247-BFC1-83B875BC66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9A8EECF-F52D-4234-B27C-47D429B7CA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9C87FC3-C36F-4DA2-9B25-7159021F3A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44CEBEC-129B-4EAC-A63D-7F0CCF2539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D48C630-187F-4A84-AB1A-0CC9478732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7D2209C-9F9F-41A1-948D-7D014D68E1E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8BFCA0-F991-402E-8E47-4506DBF670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0B2BAAA-7AB2-4BE7-9393-D42792C21B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a76c5259394463" /><Relationship Type="http://schemas.openxmlformats.org/officeDocument/2006/relationships/slideLayout" Target="/ppt/slideLayouts/slideLayout1.xml" Id="R76e319587c954b5d" /><Relationship Type="http://schemas.openxmlformats.org/officeDocument/2006/relationships/slideLayout" Target="/ppt/slideLayouts/slideLayout2.xml" Id="R4d43d000912745d4" /><Relationship Type="http://schemas.openxmlformats.org/officeDocument/2006/relationships/slideLayout" Target="/ppt/slideLayouts/slideLayout3.xml" Id="R31fc209f6a574567" /><Relationship Type="http://schemas.openxmlformats.org/officeDocument/2006/relationships/slideLayout" Target="/ppt/slideLayouts/slideLayout4.xml" Id="R346fc5b8af7c4397" /><Relationship Type="http://schemas.openxmlformats.org/officeDocument/2006/relationships/slideLayout" Target="/ppt/slideLayouts/slideLayout5.xml" Id="Rac933b858b4744aa" /><Relationship Type="http://schemas.openxmlformats.org/officeDocument/2006/relationships/slideLayout" Target="/ppt/slideLayouts/slideLayout6.xml" Id="R68c337a37f1f4d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e319587c954b5d"/>
    <p:sldLayoutId xmlns:r="http://schemas.openxmlformats.org/officeDocument/2006/relationships" id="2147483650" r:id="R4d43d000912745d4"/>
    <p:sldLayoutId xmlns:r="http://schemas.openxmlformats.org/officeDocument/2006/relationships" id="2147483651" r:id="R31fc209f6a574567"/>
    <p:sldLayoutId xmlns:r="http://schemas.openxmlformats.org/officeDocument/2006/relationships" id="2147483652" r:id="R346fc5b8af7c4397"/>
    <p:sldLayoutId xmlns:r="http://schemas.openxmlformats.org/officeDocument/2006/relationships" id="2147483653" r:id="Rac933b858b4744aa"/>
    <p:sldLayoutId xmlns:r="http://schemas.openxmlformats.org/officeDocument/2006/relationships" id="2147483654" r:id="R68c337a37f1f4d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bb390e10eb451e" /><Relationship Type="http://schemas.openxmlformats.org/officeDocument/2006/relationships/image" Target="/ppt/media/image.png" Id="R6de64efd25694194" /><Relationship Type="http://schemas.openxmlformats.org/officeDocument/2006/relationships/notesSlide" Target="/ppt/notesSlides/notesSlide1.xml" Id="Rde665742676c46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d46627fefb4d8b" /><Relationship Type="http://schemas.openxmlformats.org/officeDocument/2006/relationships/notesSlide" Target="/ppt/notesSlides/notesSlide2.xml" Id="Re2a26f88174e42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48b887ca18466a" /><Relationship Type="http://schemas.openxmlformats.org/officeDocument/2006/relationships/notesSlide" Target="/ppt/notesSlides/notesSlide3.xml" Id="R2913254ace474760" 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d4a88bf247140b9"/><Relationship Type="http://schemas.openxmlformats.org/officeDocument/2006/relationships/image" Target="/ppt/media/image2.png" Id="R5850e1b7340d4ba7"/><Relationship Type="http://schemas.openxmlformats.org/officeDocument/2006/relationships/notesSlide" Target="/ppt/notesSlides/notesSlide4.xml" Id="R6650f4134037480e"/><Relationship Id="rIdSergekVideo" Type="http://schemas.openxmlformats.org/officeDocument/2006/relationships/video" Target="../media/sergek-demo.mp4"/><Relationship Id="rIdSergekMedia" Type="http://schemas.microsoft.com/office/2007/relationships/media" Target="../media/sergek-demo.mp4"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d335ee6dd24cec" /><Relationship Type="http://schemas.openxmlformats.org/officeDocument/2006/relationships/notesSlide" Target="/ppt/notesSlides/notesSlide5.xml" Id="R06c1bb7bc0984d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6e6530f7534d94" /><Relationship Type="http://schemas.openxmlformats.org/officeDocument/2006/relationships/image" Target="/ppt/media/image3.png" Id="R8407eda596b346f6" /><Relationship Type="http://schemas.openxmlformats.org/officeDocument/2006/relationships/notesSlide" Target="/ppt/notesSlides/notesSlide6.xml" Id="Rbe7a58656b394f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8fdb11719e42f5" /><Relationship Type="http://schemas.openxmlformats.org/officeDocument/2006/relationships/notesSlide" Target="/ppt/notesSlides/notesSlide7.xml" Id="R4edc43d0d05248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9de906755b4587" /><Relationship Type="http://schemas.openxmlformats.org/officeDocument/2006/relationships/notesSlide" Target="/ppt/notesSlides/notesSlide8.xml" Id="Rb527f15caf6941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e6041516874847" /><Relationship Type="http://schemas.openxmlformats.org/officeDocument/2006/relationships/notesSlide" Target="/ppt/notesSlides/notesSlide9.xml" Id="R29ba83e9ddfd44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a60940a0194051" /><Relationship Type="http://schemas.openxmlformats.org/officeDocument/2006/relationships/image" Target="/ppt/media/image4.png" Id="R0082dfae63d14c4a" /><Relationship Type="http://schemas.openxmlformats.org/officeDocument/2006/relationships/notesSlide" Target="/ppt/notesSlides/notesSlide10.xml" Id="R34c2ff2e2b2a48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186E27-7458-49D8-BE9E-B10CB155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0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Sergек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46CC9-154E-4992-AC48-0A7C8A68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20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62FD5B-5D03-4848-97F3-1021EC2B7D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e64efd25694194"/>
          <a:stretch xmlns:a="http://schemas.openxmlformats.org/drawingml/2006/main"/>
        </p:blipFill>
        <p:spPr>
          <a:xfrm xmlns:a="http://schemas.openxmlformats.org/drawingml/2006/main">
            <a:off x="4049" y="0"/>
            <a:ext cx="15231902" cy="8572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A53353-0DEB-495C-8387-8B8815AA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45DE8"/>
                </a:solidFill>
                <a:latin typeface="Segoe UI"/>
                <a:ea typeface="Segoe UI"/>
                <a:cs typeface="Segoe UI"/>
              </a:rPr>
              <a:t>QOSTANAI AI INDUSTRY HACKATHON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977D20-848E-4587-9D3D-1D069362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7620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15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915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9150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Sergек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AC3236-7837-4328-9553-FB79696E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52875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Moodle емтихандарына</a:t>
            </a:r>
          </a:p>
          <a:p xmlns:a="http://schemas.openxmlformats.org/drawingml/2006/main">
            <a:pPr>
              <a:defRPr sz="33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арналған локалды прокторинг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A073FB-B85C-4ADA-AFDE-13F05202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810250"/>
            <a:ext cx="704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Қорғалған орта. Түсінікті дәлелдер.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F326F0-C16A-468C-B2BA-587BD3A7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477125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Astana IT University</a:t>
            </a:r>
          </a:p>
        </p:txBody>
      </p:sp>
    </p:spTree>
    <p:extLst>
      <p:ext uri="{BB962C8B-B14F-4D97-AF65-F5344CB8AC3E}">
        <p14:creationId xmlns:p14="http://schemas.microsoft.com/office/powerpoint/2010/main" val="11960957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A805F6-39EB-450D-8878-BA904A06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Емтихан кезіндегі тәуекелдер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DB4DA-CC23-4AA1-B5FC-20236AB6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0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Sergек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06BEB2-6580-4968-877A-D2525E5B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20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F97AFA-39C4-4EF1-AA2D-15CABEFA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95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05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pPr>
            <a:r>
              <a:rPr sz="4050" b="1">
                <a:solidFill>
                  <a:srgbClr val="245DE8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10EAD-DF7B-4D3E-8B52-9E5ACB8E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95500"/>
            <a:ext cx="1219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Телефон және сыртқы көмек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6E79D4-2BA8-4E42-B6C5-C1873416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62250"/>
            <a:ext cx="1219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Камера затты және оның көріну уақытын тіркейді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5F2424-1931-4304-86E5-338AFA14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81425"/>
            <a:ext cx="95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05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pPr>
            <a:r>
              <a:rPr sz="4050" b="1">
                <a:solidFill>
                  <a:srgbClr val="245DE8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A49DAD-6292-4A4C-9AEF-0495D725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81425"/>
            <a:ext cx="1219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Көмекші немесе студенттің ауысуы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A4AB79-1095-426A-BA91-3FAF248E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48175"/>
            <a:ext cx="1219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Фотомен салыстыру және кадрдағы адамдар саны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A92DFE-9531-4431-A537-49AEE64C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95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05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pPr>
            <a:r>
              <a:rPr sz="4050" b="1">
                <a:solidFill>
                  <a:srgbClr val="245DE8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514C8B-401F-4467-8588-6A5D062D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467350"/>
            <a:ext cx="1219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Жұмыс ортасынан шығу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A82629-6332-418A-AF9C-4E7AE4A3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134100"/>
            <a:ext cx="1219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Терезе, перне, USB және қашықтан басқару қорғанысы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4BF49C-857B-4172-94B1-D7B41FC9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0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87E7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E73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87E73"/>
                </a:solidFill>
                <a:latin typeface="Segoe UI"/>
                <a:ea typeface="Segoe UI"/>
                <a:cs typeface="Segoe UI"/>
              </a:rPr>
              <a:t>КРУ мақсаты: таныс Moodle жүйесінде тексерілетін емтихан шарттары</a:t>
            </a:r>
          </a:p>
        </p:txBody>
      </p:sp>
    </p:spTree>
    <p:extLst>
      <p:ext uri="{BB962C8B-B14F-4D97-AF65-F5344CB8AC3E}">
        <p14:creationId xmlns:p14="http://schemas.microsoft.com/office/powerpoint/2010/main" val="9991807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E2B5DC-FA86-4719-8EC3-17D700A2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Студент компьютеріндегі қорғаныс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9BA962-2FEC-43B4-B1AB-EF64B72A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0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Sergек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E45794-5F32-4269-9750-5CD87D25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20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76F371-21C6-42B8-A21D-D9AF8B39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245DE8"/>
                </a:solidFill>
                <a:latin typeface="Segoe UI"/>
                <a:ea typeface="Segoe UI"/>
                <a:cs typeface="Segoe UI"/>
              </a:rPr>
              <a:t>Moodle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5B0DC6-9EC9-4A9F-A080-3C9E1778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404812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Өз аккаунты</a:t>
            </a:r>
          </a:p>
          <a:p xmlns:a="http://schemas.openxmlformats.org/drawingml/2006/main">
            <a:pPr>
              <a:defRPr sz="2400" b="0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және таңдалған тест</a:t>
            </a:r>
          </a:p>
          <a:p xmlns:a="http://schemas.openxmlformats.org/drawingml/2006/main">
            <a:pPr>
              <a:defRPr sz="2400" b="0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Start attempt арқылы бастау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A0761D-4A05-4BC9-B7FC-50748D6D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0025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245DE8"/>
                </a:solidFill>
                <a:latin typeface="Segoe UI"/>
                <a:ea typeface="Segoe UI"/>
                <a:cs typeface="Segoe UI"/>
              </a:rPr>
              <a:t>Локалды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83AD93-E4AD-4260-8CB9-A2BBA324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57500"/>
            <a:ext cx="404812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Телефон және бет</a:t>
            </a:r>
          </a:p>
          <a:p xmlns:a="http://schemas.openxmlformats.org/drawingml/2006/main">
            <a:pPr>
              <a:defRPr sz="2400" b="0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Көзқарас бағыты</a:t>
            </a:r>
          </a:p>
          <a:p xmlns:a="http://schemas.openxmlformats.org/drawingml/2006/main">
            <a:pPr>
              <a:defRPr sz="2400" b="0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Дауыс пен тұрақты шу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5DA346-E29E-4EC5-9613-9ECEF407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00250"/>
            <a:ext cx="3905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245DE8"/>
                </a:solidFill>
                <a:latin typeface="Segoe UI"/>
                <a:ea typeface="Segoe UI"/>
                <a:cs typeface="Segoe UI"/>
              </a:rPr>
              <a:t>Windows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CEC3EF-38AA-4152-84EB-0869174F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0"/>
            <a:ext cx="390525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Бағдарлама мен терезе</a:t>
            </a:r>
          </a:p>
          <a:p xmlns:a="http://schemas.openxmlformats.org/drawingml/2006/main">
            <a:pPr>
              <a:defRPr sz="2400" b="0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Пернелер және USB</a:t>
            </a:r>
          </a:p>
          <a:p xmlns:a="http://schemas.openxmlformats.org/drawingml/2006/main">
            <a:pPr>
              <a:defRPr sz="2400" b="0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Қашықтан басқару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684E8B-4C14-440E-B36C-BA54BF27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925" b="1">
                <a:solidFill>
                  <a:srgbClr val="087E7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087E73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087E73"/>
                </a:solidFill>
                <a:latin typeface="Segoe UI"/>
                <a:ea typeface="Segoe UI"/>
                <a:cs typeface="Segoe UI"/>
              </a:rPr>
              <a:t>Бір сессия тестті, құрылғыны және дәлелдерді байланыстырады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1B511F-CED1-40AA-AE07-A8C44C0A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YOLO / ONNX Runtime / MediaPipe / SFace / Silero VAD</a:t>
            </a:r>
          </a:p>
        </p:txBody>
      </p:sp>
    </p:spTree>
    <p:extLst>
      <p:ext uri="{BB962C8B-B14F-4D97-AF65-F5344CB8AC3E}">
        <p14:creationId xmlns:p14="http://schemas.microsoft.com/office/powerpoint/2010/main" val="6151325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18336D-14C2-4A0B-8498-D37AFA98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0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Sergек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967DE7-B576-4659-A486-CE8A643E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20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pic>
        <p:nvPicPr>
          <p:cNvPr id="3" name="Sergек demo video">
            <a:extLst xmlns:a="http://schemas.openxmlformats.org/drawingml/2006/main">
              <a:ext uri="{FF2B5EF4-FFF2-40B4-BE49-F238E27FC236}">
                <a16:creationId xmlns:a16="http://schemas.microsoft.com/office/drawing/2014/main" id="{0261E4E4-A94F-454A-A675-B2AEEA789BE3}"/>
              </a:ext>
            </a:extLst>
            <ns0:hlinkClick xmlns:ns0="http://schemas.openxmlformats.org/drawingml/2006/main" action="ppaction://media"/>
          </p:cNvPr>
          <p:cNvPicPr>
            <a:picLocks xmlns:a="http://schemas.openxmlformats.org/drawingml/2006/main" noChangeAspect="1"/>
          </p:cNvPicPr>
          <p:nvPr>
            <ns1:videoFile xmlns:ns1="http://schemas.openxmlformats.org/drawingml/2006/main" xmlns:ns2="http://schemas.openxmlformats.org/officeDocument/2006/relationships" ns2:link="rIdSergekVideo"/>
            <p:extLst>
              <p:ext uri="{DAA4B4D4-6D71-4841-9C94-3DE7FCFB9230}">
                <ns3:media xmlns:ns3="http://schemas.microsoft.com/office/powerpoint/2010/main" xmlns:ns4="http://schemas.openxmlformats.org/officeDocument/2006/relationships" ns4:embed="rIdSergekMedia"/>
              </p:ext>
            </p:extLst>
          </p:nvPr>
        </p:nvPicPr>
        <p:blipFill>
          <a:blip xmlns:r="http://schemas.openxmlformats.org/officeDocument/2006/relationships" xmlns:a="http://schemas.openxmlformats.org/drawingml/2006/main" r:embed="R5850e1b7340d4ba7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946544"/>
      </p:ext>
    </p:extLst>
  </p:cSld>
  <p:timing>
    <p:tnLst>
      <p:par>
        <p:cTn id="1" dur="indefinite" restart="never" nodeType="tmRoot">
          <p:childTnLst>
            <p:video>
              <p:cMediaNode vol="0">
                <p:cTn id="2" fill="hold" display="0">
                  <p:stCondLst>
                    <p:cond delay="0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539B95-C087-44BE-8EB6-779541FA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Бір эпизод. Түсінікті басымдық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359210-F5E9-47BF-BDBA-9ACDB449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0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Sergек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787B3D-2468-46A1-BE59-132A49C9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20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00A86B-0A16-4EDF-A5B4-C926D627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85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Телефон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8BE10-9D06-457D-8E93-A2C27F03A921}"/>
              </a:ext>
            </a:extLst>
          </p:cNvPr>
          <p:cNvGraphicFramePr/>
          <p:nvPr/>
        </p:nvGraphicFramePr>
        <p:xfrm>
          <a:off xmlns:a="http://schemas.openxmlformats.org/drawingml/2006/main" x="762000" y="2667000"/>
          <a:ext xmlns:a="http://schemas.openxmlformats.org/drawingml/2006/main" cx="13716000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429000"/>
                <a:gridCol w="3429000"/>
                <a:gridCol w="3429000"/>
              </a:tblGrid>
              <a:tr h="809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33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Бірден</a:t>
                      </a:r>
                    </a:p>
                  </a:txBody>
                  <a:tcPr marL="91440" marR="91440" marT="45720" marB="45720">
                    <a:lnL w="0">
                      <a:solidFill>
                        <a:srgbClr val="F3F7FF"/>
                      </a:solidFill>
                    </a:lnL>
                    <a:lnR w="0">
                      <a:solidFill>
                        <a:srgbClr val="F3F7FF"/>
                      </a:solidFill>
                    </a:lnR>
                    <a:lnT w="0">
                      <a:solidFill>
                        <a:srgbClr val="F3F7FF"/>
                      </a:solidFill>
                    </a:lnT>
                    <a:lnB w="0">
                      <a:solidFill>
                        <a:srgbClr val="F3F7FF"/>
                      </a:solidFill>
                    </a:lnB>
                    <a:solidFill>
                      <a:srgbClr val="245D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33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2 сек</a:t>
                      </a:r>
                    </a:p>
                  </a:txBody>
                  <a:tcPr marL="91440" marR="91440" marT="45720" marB="45720">
                    <a:lnR w="0">
                      <a:solidFill>
                        <a:srgbClr val="F3F7FF"/>
                      </a:solidFill>
                    </a:lnR>
                    <a:lnT w="0">
                      <a:solidFill>
                        <a:srgbClr val="F3F7FF"/>
                      </a:solidFill>
                    </a:lnT>
                    <a:lnB w="0">
                      <a:solidFill>
                        <a:srgbClr val="F3F7FF"/>
                      </a:solidFill>
                    </a:lnB>
                    <a:solidFill>
                      <a:srgbClr val="245D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33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5 сек</a:t>
                      </a:r>
                    </a:p>
                  </a:txBody>
                  <a:tcPr marL="91440" marR="91440" marT="45720" marB="45720">
                    <a:lnR w="0">
                      <a:solidFill>
                        <a:srgbClr val="F3F7FF"/>
                      </a:solidFill>
                    </a:lnR>
                    <a:lnT w="0">
                      <a:solidFill>
                        <a:srgbClr val="F3F7FF"/>
                      </a:solidFill>
                    </a:lnT>
                    <a:lnB w="0">
                      <a:solidFill>
                        <a:srgbClr val="F3F7FF"/>
                      </a:solidFill>
                    </a:lnB>
                    <a:solidFill>
                      <a:srgbClr val="245D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33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10 сек</a:t>
                      </a:r>
                    </a:p>
                  </a:txBody>
                  <a:tcPr marL="91440" marR="91440" marT="45720" marB="45720">
                    <a:lnR w="0">
                      <a:solidFill>
                        <a:srgbClr val="F3F7FF"/>
                      </a:solidFill>
                    </a:lnR>
                    <a:lnT w="0">
                      <a:solidFill>
                        <a:srgbClr val="F3F7FF"/>
                      </a:solidFill>
                    </a:lnT>
                    <a:lnB w="0">
                      <a:solidFill>
                        <a:srgbClr val="F3F7FF"/>
                      </a:solidFill>
                    </a:lnB>
                    <a:solidFill>
                      <a:srgbClr val="245DE8"/>
                    </a:solidFill>
                  </a:tcPr>
                </a:tc>
              </a:tr>
              <a:tr h="1000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3300" b="1">
                          <a:solidFill>
                            <a:srgbClr val="163453"/>
                          </a:solidFill>
                          <a:latin typeface="Segoe UI"/>
                          <a:ea typeface="Segoe UI"/>
                          <a:cs typeface="Segoe UI"/>
                        </a:rPr>
                        <a:t>5</a:t>
                      </a:r>
                    </a:p>
                  </a:txBody>
                  <a:tcPr marL="91440" marR="91440" marT="45720" marB="45720">
                    <a:lnL w="0">
                      <a:solidFill>
                        <a:srgbClr val="F3F7FF"/>
                      </a:solidFill>
                    </a:lnL>
                    <a:lnR w="0">
                      <a:solidFill>
                        <a:srgbClr val="F3F7FF"/>
                      </a:solidFill>
                    </a:lnR>
                    <a:lnB w="0">
                      <a:solidFill>
                        <a:srgbClr val="F3F7FF"/>
                      </a:solidFill>
                    </a:lnB>
                    <a:solidFill>
                      <a:srgbClr val="E4F3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3300" b="0">
                          <a:solidFill>
                            <a:srgbClr val="163453"/>
                          </a:solidFill>
                          <a:latin typeface="Segoe UI"/>
                          <a:ea typeface="Segoe UI"/>
                          <a:cs typeface="Segoe UI"/>
                        </a:rPr>
                        <a:t>10</a:t>
                      </a:r>
                    </a:p>
                  </a:txBody>
                  <a:tcPr marL="91440" marR="91440" marT="45720" marB="45720">
                    <a:lnR w="0">
                      <a:solidFill>
                        <a:srgbClr val="F3F7FF"/>
                      </a:solidFill>
                    </a:lnR>
                    <a:lnB w="0">
                      <a:solidFill>
                        <a:srgbClr val="F3F7FF"/>
                      </a:solidFill>
                    </a:lnB>
                    <a:solidFill>
                      <a:srgbClr val="E4F3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3300" b="0">
                          <a:solidFill>
                            <a:srgbClr val="163453"/>
                          </a:solidFill>
                          <a:latin typeface="Segoe UI"/>
                          <a:ea typeface="Segoe UI"/>
                          <a:cs typeface="Segoe UI"/>
                        </a:rPr>
                        <a:t>15</a:t>
                      </a:r>
                    </a:p>
                  </a:txBody>
                  <a:tcPr marL="91440" marR="91440" marT="45720" marB="45720">
                    <a:lnR w="0">
                      <a:solidFill>
                        <a:srgbClr val="F3F7FF"/>
                      </a:solidFill>
                    </a:lnR>
                    <a:lnB w="0">
                      <a:solidFill>
                        <a:srgbClr val="F3F7FF"/>
                      </a:solidFill>
                    </a:lnB>
                    <a:solidFill>
                      <a:srgbClr val="E4F3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3300" b="0">
                          <a:solidFill>
                            <a:srgbClr val="163453"/>
                          </a:solidFill>
                          <a:latin typeface="Segoe UI"/>
                          <a:ea typeface="Segoe UI"/>
                          <a:cs typeface="Segoe UI"/>
                        </a:rPr>
                        <a:t>20</a:t>
                      </a:r>
                    </a:p>
                  </a:txBody>
                  <a:tcPr marL="91440" marR="91440" marT="45720" marB="45720">
                    <a:lnR w="0">
                      <a:solidFill>
                        <a:srgbClr val="F3F7FF"/>
                      </a:solidFill>
                    </a:lnR>
                    <a:lnB w="0">
                      <a:solidFill>
                        <a:srgbClr val="F3F7FF"/>
                      </a:solidFill>
                    </a:lnB>
                    <a:solidFill>
                      <a:srgbClr val="E4F3F1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E917A5-27FE-4F01-B80C-EF9E5B8C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45DE8"/>
                </a:solidFill>
                <a:latin typeface="Segoe UI"/>
                <a:ea typeface="Segoe UI"/>
                <a:cs typeface="Segoe UI"/>
              </a:rPr>
              <a:t>Кезеңдер бір эпизодтың жалпы ұпайын көрсетеді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939A5D-60C6-4413-80CB-DFB93B99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Жанға қарау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55FDFA-BE6A-4B59-A40B-141E8305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723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5 / 10 / 20 сек: 3 / 5 / 10 ұпай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08DFA4-2AF0-4782-B638-27547F57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71500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Екінші адам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03FC94-780D-4E2A-BFE5-C9E54FA3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381750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3 сек дейін: 0</a:t>
            </a:r>
          </a:p>
          <a:p xmlns:a="http://schemas.openxmlformats.org/drawingml/2006/main">
            <a:pPr>
              <a:defRPr sz="2325" b="0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3 сек бастап: 2 ұпай</a:t>
            </a:r>
          </a:p>
        </p:txBody>
      </p:sp>
    </p:spTree>
    <p:extLst>
      <p:ext uri="{BB962C8B-B14F-4D97-AF65-F5344CB8AC3E}">
        <p14:creationId xmlns:p14="http://schemas.microsoft.com/office/powerpoint/2010/main" val="11157138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8B7922-01A6-4B55-AA53-5DF5431A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Оқытушы маңыздысын бірінші көреді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377F1-B365-4F97-BECC-2C6220CF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0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Sergек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462D71-FAD2-47E5-A124-C5241654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20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517FCD-CEF7-422A-B9CF-7D163118F5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07eda596b346f6"/>
          <a:stretch xmlns:a="http://schemas.openxmlformats.org/drawingml/2006/main"/>
        </p:blipFill>
        <p:spPr>
          <a:xfrm xmlns:a="http://schemas.openxmlformats.org/drawingml/2006/main">
            <a:off x="6096000" y="2187575"/>
            <a:ext cx="8382000" cy="46736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54B17C-1C4E-429D-9A37-092CFFD4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810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85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245DE8"/>
                </a:solidFill>
                <a:latin typeface="Segoe UI"/>
                <a:ea typeface="Segoe UI"/>
                <a:cs typeface="Segoe UI"/>
              </a:rPr>
              <a:t>Маңызды сессиялар</a:t>
            </a:r>
          </a:p>
          <a:p xmlns:a="http://schemas.openxmlformats.org/drawingml/2006/main">
            <a:pPr>
              <a:defRPr sz="285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245DE8"/>
                </a:solidFill>
                <a:latin typeface="Segoe UI"/>
                <a:ea typeface="Segoe UI"/>
                <a:cs typeface="Segoe UI"/>
              </a:rPr>
              <a:t>кезектің басында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2274C6-FB43-4F8B-B147-45732A8B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5048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Уақыт пен эпизод тарихы</a:t>
            </a:r>
          </a:p>
          <a:p xmlns:a="http://schemas.openxmlformats.org/drawingml/2006/main">
            <a:pPr>
              <a:defRPr sz="2250" b="0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Камера, экран және дыбыс</a:t>
            </a:r>
          </a:p>
          <a:p xmlns:a="http://schemas.openxmlformats.org/drawingml/2006/main">
            <a:pPr>
              <a:defRPr sz="2250" b="0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Оқытушының шешімі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ADAC62-C4EF-4F75-A48F-93135C96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5095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87E7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E73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87E73"/>
                </a:solidFill>
                <a:latin typeface="Segoe UI"/>
                <a:ea typeface="Segoe UI"/>
                <a:cs typeface="Segoe UI"/>
              </a:rPr>
              <a:t>Бұғатталған әрекеттер</a:t>
            </a:r>
          </a:p>
          <a:p xmlns:a="http://schemas.openxmlformats.org/drawingml/2006/main">
            <a:pPr>
              <a:defRPr sz="2175" b="1">
                <a:solidFill>
                  <a:srgbClr val="087E73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87E73"/>
                </a:solidFill>
                <a:latin typeface="Segoe UI"/>
                <a:ea typeface="Segoe UI"/>
                <a:cs typeface="Segoe UI"/>
              </a:rPr>
              <a:t>техникалық журналда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DC0B66-9994-46E8-B1BB-E9FCA672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7712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AES-GCM: жазбаларды шифрлау. Хэш пен қолтаңба: тұтастықты тексеру.</a:t>
            </a:r>
          </a:p>
        </p:txBody>
      </p:sp>
    </p:spTree>
    <p:extLst>
      <p:ext uri="{BB962C8B-B14F-4D97-AF65-F5344CB8AC3E}">
        <p14:creationId xmlns:p14="http://schemas.microsoft.com/office/powerpoint/2010/main" val="10405659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6138D2-2587-4D80-92CF-BEE99F13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КРУ компьютерлік аудиториясына арналған шешім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192A4-58E4-49F2-8750-D99A4AFC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0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Sergек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EBD437-E5B4-4B94-999C-8A594B72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20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F469D-E92D-4C5A-8C75-B60710A42109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62375"/>
                <a:gridCol w="9953625"/>
              </a:tblGrid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Шешім</a:t>
                      </a:r>
                    </a:p>
                  </a:txBody>
                  <a:tcPr marL="91440" marR="91440" marT="45720" marB="45720">
                    <a:lnL w="0">
                      <a:solidFill>
                        <a:srgbClr val="F3F7FF"/>
                      </a:solidFill>
                    </a:lnL>
                    <a:lnR w="0">
                      <a:solidFill>
                        <a:srgbClr val="F3F7FF"/>
                      </a:solidFill>
                    </a:lnR>
                    <a:lnT w="0">
                      <a:solidFill>
                        <a:srgbClr val="F3F7FF"/>
                      </a:solidFill>
                    </a:lnT>
                    <a:lnB w="0">
                      <a:solidFill>
                        <a:srgbClr val="F3F7FF"/>
                      </a:solidFill>
                    </a:lnB>
                    <a:solidFill>
                      <a:srgbClr val="245D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Негізгі бағыты</a:t>
                      </a:r>
                    </a:p>
                  </a:txBody>
                  <a:tcPr marL="91440" marR="91440" marT="45720" marB="45720">
                    <a:lnR w="0">
                      <a:solidFill>
                        <a:srgbClr val="F3F7FF"/>
                      </a:solidFill>
                    </a:lnR>
                    <a:lnT w="0">
                      <a:solidFill>
                        <a:srgbClr val="F3F7FF"/>
                      </a:solidFill>
                    </a:lnT>
                    <a:lnB w="0">
                      <a:solidFill>
                        <a:srgbClr val="F3F7FF"/>
                      </a:solidFill>
                    </a:lnB>
                    <a:solidFill>
                      <a:srgbClr val="245DE8"/>
                    </a:solidFill>
                  </a:tcPr>
                </a:tc>
              </a:tr>
              <a:tr h="952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1">
                          <a:solidFill>
                            <a:srgbClr val="163453"/>
                          </a:solidFill>
                          <a:latin typeface="Segoe UI"/>
                          <a:ea typeface="Segoe UI"/>
                          <a:cs typeface="Segoe UI"/>
                        </a:rPr>
                        <a:t>Safe Exam Browser</a:t>
                      </a:r>
                    </a:p>
                  </a:txBody>
                  <a:tcPr marL="91440" marR="91440" marT="45720" marB="45720">
                    <a:lnL w="0">
                      <a:solidFill>
                        <a:srgbClr val="F3F7FF"/>
                      </a:solidFill>
                    </a:lnL>
                    <a:lnR w="0">
                      <a:solidFill>
                        <a:srgbClr val="F3F7FF"/>
                      </a:solidFill>
                    </a:lnR>
                    <a:lnB w="0">
                      <a:solidFill>
                        <a:srgbClr val="F3F7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163453"/>
                          </a:solidFill>
                          <a:latin typeface="Segoe UI"/>
                          <a:ea typeface="Segoe UI"/>
                          <a:cs typeface="Segoe UI"/>
                        </a:rPr>
                        <a:t>Қорғалған емтихан браузері</a:t>
                      </a:r>
                    </a:p>
                  </a:txBody>
                  <a:tcPr marL="91440" marR="91440" marT="45720" marB="45720">
                    <a:lnR w="0">
                      <a:solidFill>
                        <a:srgbClr val="F3F7FF"/>
                      </a:solidFill>
                    </a:lnR>
                    <a:lnB w="0">
                      <a:solidFill>
                        <a:srgbClr val="F3F7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1">
                          <a:solidFill>
                            <a:srgbClr val="163453"/>
                          </a:solidFill>
                          <a:latin typeface="Segoe UI"/>
                          <a:ea typeface="Segoe UI"/>
                          <a:cs typeface="Segoe UI"/>
                        </a:rPr>
                        <a:t>OES</a:t>
                      </a:r>
                    </a:p>
                  </a:txBody>
                  <a:tcPr marL="91440" marR="91440" marT="45720" marB="45720">
                    <a:lnL w="0">
                      <a:solidFill>
                        <a:srgbClr val="F3F7FF"/>
                      </a:solidFill>
                    </a:lnL>
                    <a:lnR w="0">
                      <a:solidFill>
                        <a:srgbClr val="F3F7FF"/>
                      </a:solidFill>
                    </a:lnR>
                    <a:lnB w="0">
                      <a:solidFill>
                        <a:srgbClr val="F3F7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163453"/>
                          </a:solidFill>
                          <a:latin typeface="Segoe UI"/>
                          <a:ea typeface="Segoe UI"/>
                          <a:cs typeface="Segoe UI"/>
                        </a:rPr>
                        <a:t>Дайын прокторинг және есеп платформасы</a:t>
                      </a:r>
                    </a:p>
                  </a:txBody>
                  <a:tcPr marL="91440" marR="91440" marT="45720" marB="45720">
                    <a:lnR w="0">
                      <a:solidFill>
                        <a:srgbClr val="F3F7FF"/>
                      </a:solidFill>
                    </a:lnR>
                    <a:lnB w="0">
                      <a:solidFill>
                        <a:srgbClr val="F3F7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95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1">
                          <a:solidFill>
                            <a:srgbClr val="163453"/>
                          </a:solidFill>
                          <a:latin typeface="Segoe UI"/>
                          <a:ea typeface="Segoe UI"/>
                          <a:cs typeface="Segoe UI"/>
                        </a:rPr>
                        <a:t>Sergек</a:t>
                      </a:r>
                    </a:p>
                  </a:txBody>
                  <a:tcPr marL="91440" marR="91440" marT="45720" marB="45720">
                    <a:lnL w="0">
                      <a:solidFill>
                        <a:srgbClr val="F3F7FF"/>
                      </a:solidFill>
                    </a:lnL>
                    <a:lnR w="0">
                      <a:solidFill>
                        <a:srgbClr val="F3F7FF"/>
                      </a:solidFill>
                    </a:lnR>
                    <a:lnB w="0">
                      <a:solidFill>
                        <a:srgbClr val="F3F7FF"/>
                      </a:solidFill>
                    </a:lnB>
                    <a:solidFill>
                      <a:srgbClr val="E4F3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163453"/>
                          </a:solidFill>
                          <a:latin typeface="Segoe UI"/>
                          <a:ea typeface="Segoe UI"/>
                          <a:cs typeface="Segoe UI"/>
                        </a:rPr>
                        <a:t>Локалды AI, жеке хаб және ашық код</a:t>
                      </a:r>
                    </a:p>
                  </a:txBody>
                  <a:tcPr marL="91440" marR="91440" marT="45720" marB="45720">
                    <a:lnR w="0">
                      <a:solidFill>
                        <a:srgbClr val="F3F7FF"/>
                      </a:solidFill>
                    </a:lnR>
                    <a:lnB w="0">
                      <a:solidFill>
                        <a:srgbClr val="F3F7FF"/>
                      </a:solidFill>
                    </a:lnB>
                    <a:solidFill>
                      <a:srgbClr val="E4F3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26895-C431-4DCA-A5CA-B6BAE579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371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75" b="1">
                <a:solidFill>
                  <a:srgbClr val="087E7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087E73"/>
                </a:solidFill>
                <a:latin typeface="Segoe UI"/>
                <a:ea typeface="Segoe UI"/>
                <a:cs typeface="Segoe UI"/>
              </a:defRPr>
            </a:pPr>
            <a:r>
              <a:rPr sz="2775" b="1">
                <a:solidFill>
                  <a:srgbClr val="087E73"/>
                </a:solidFill>
                <a:latin typeface="Segoe UI"/>
                <a:ea typeface="Segoe UI"/>
                <a:cs typeface="Segoe UI"/>
              </a:rPr>
              <a:t>Біздің басымдық: жедел ескерту</a:t>
            </a:r>
          </a:p>
          <a:p xmlns:a="http://schemas.openxmlformats.org/drawingml/2006/main">
            <a:pPr>
              <a:defRPr sz="2775" b="1">
                <a:solidFill>
                  <a:srgbClr val="087E73"/>
                </a:solidFill>
                <a:latin typeface="Segoe UI"/>
                <a:ea typeface="Segoe UI"/>
                <a:cs typeface="Segoe UI"/>
              </a:defRPr>
            </a:pPr>
            <a:r>
              <a:rPr sz="2775" b="1">
                <a:solidFill>
                  <a:srgbClr val="087E73"/>
                </a:solidFill>
                <a:latin typeface="Segoe UI"/>
                <a:ea typeface="Segoe UI"/>
                <a:cs typeface="Segoe UI"/>
              </a:rPr>
              <a:t>және уақытпен есептелетін түсінікті тексеру кезегі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039AF0-6E5F-4DD6-88C4-99B0FF95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77125"/>
            <a:ext cx="1371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Интерфейс: қазақша / русский / English</a:t>
            </a:r>
          </a:p>
        </p:txBody>
      </p:sp>
    </p:spTree>
    <p:extLst>
      <p:ext uri="{BB962C8B-B14F-4D97-AF65-F5344CB8AC3E}">
        <p14:creationId xmlns:p14="http://schemas.microsoft.com/office/powerpoint/2010/main" val="2567826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4B5CD2-97A6-4444-B1ED-865F7FF4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Қайталанатын нәтижесі бар сынақтар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83E8A3-2B36-4E8A-8520-E03C82E9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0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Sergек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21538-A31F-432D-B941-FC2416D5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20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636AB3-BC2D-4836-B0D4-DADCC314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795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795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pPr>
            <a:r>
              <a:rPr sz="7950" b="1">
                <a:solidFill>
                  <a:srgbClr val="245DE8"/>
                </a:solidFill>
                <a:latin typeface="Segoe UI"/>
                <a:ea typeface="Segoe UI"/>
                <a:cs typeface="Segoe UI"/>
              </a:rPr>
              <a:t>249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DD5288-668D-43F5-8046-1D46C865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сервер логикасы сынағы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AAA501-F07D-429A-8B3D-6556D6E2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002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795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795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pPr>
            <a:r>
              <a:rPr sz="7950" b="1">
                <a:solidFill>
                  <a:srgbClr val="245DE8"/>
                </a:solidFill>
                <a:latin typeface="Segoe UI"/>
                <a:ea typeface="Segoe UI"/>
                <a:cs typeface="Segoe UI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BE5E69-671C-46F2-89B9-48412266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67125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интерфейс сценарийі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C6C175-C816-4C5C-9DE3-B4D5C1C1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002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795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795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pPr>
            <a:r>
              <a:rPr sz="7950" b="1">
                <a:solidFill>
                  <a:srgbClr val="245DE8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6C8905-30E5-4610-95EE-95636787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667125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Moodle толық цикліндегі</a:t>
            </a:r>
          </a:p>
          <a:p xmlns:a="http://schemas.openxmlformats.org/drawingml/2006/main">
            <a:pPr>
              <a:defRPr sz="2175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сұрақ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6DC9DE-92E7-427D-BB3B-54D9F6A8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087E7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087E73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087E73"/>
                </a:solidFill>
                <a:latin typeface="Segoe UI"/>
                <a:ea typeface="Segoe UI"/>
                <a:cs typeface="Segoe UI"/>
              </a:rPr>
              <a:t>HTTPS хаб: 100 синтетикалық сессия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93CBDA-6873-494C-8C6F-ED0A76EA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100 сессия аяқталды. Сұрау және тұтастық қатесі: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C3D725-4E28-47CD-AC6B-5E91F189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77125"/>
            <a:ext cx="1371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Автоматты тексерулер және бағдарламалық стенд / 15.10.2026</a:t>
            </a:r>
          </a:p>
        </p:txBody>
      </p:sp>
    </p:spTree>
    <p:extLst>
      <p:ext uri="{BB962C8B-B14F-4D97-AF65-F5344CB8AC3E}">
        <p14:creationId xmlns:p14="http://schemas.microsoft.com/office/powerpoint/2010/main" val="12397654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D62F98-49A7-4AF4-82AB-16A17B35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Қолданыстағы Moodle жүйесіне қосу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0E6B7-8B0A-4C8B-90D3-7CB21437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0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Sergек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3A871D-97E2-43CD-A974-953B4FE9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20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D1120E-90B5-4CC8-9E72-A646AA8D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400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245DE8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617444-A707-45D6-89F6-D9F66980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75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775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ЖОО хабы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394A13-63A9-4678-B244-72ED3178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HTTPS және қолжетімділік</a:t>
            </a:r>
          </a:p>
          <a:p xmlns:a="http://schemas.openxmlformats.org/drawingml/2006/main">
            <a:pPr>
              <a:defRPr sz="2175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рөлдері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C4E770-5AED-42DB-B39E-2CAFE6F1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52625"/>
            <a:ext cx="400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245DE8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F9AB05-19F8-4BEC-8740-F5170C3B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5750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75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775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Moodle плагині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08988C-288F-4CB6-9FAA-955999C6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14750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Таңдалған тест қорғанысы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DF3E04-9CD6-4341-B452-3D20FB80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52625"/>
            <a:ext cx="400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45DE8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245DE8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4FAFBC-6F0E-40E1-97E9-0687C1B1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5750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75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775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Windows агенті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59BB40-EFB0-48DB-A3D4-C63F2CD4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14750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Дайындалған компьютерлер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3DCB1D-425B-42B8-B205-96D5BAF9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925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Пилот ұсынамыз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60C021-D5A0-4DCE-A9E8-0DD76841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500" b="1">
                <a:solidFill>
                  <a:srgbClr val="087E7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087E73"/>
                </a:solidFill>
                <a:latin typeface="Segoe UI"/>
                <a:ea typeface="Segoe UI"/>
                <a:cs typeface="Segoe UI"/>
              </a:defRPr>
            </a:pPr>
            <a:r>
              <a:rPr sz="4500" b="1">
                <a:solidFill>
                  <a:srgbClr val="087E73"/>
                </a:solidFill>
                <a:latin typeface="Segoe UI"/>
                <a:ea typeface="Segoe UI"/>
                <a:cs typeface="Segoe UI"/>
              </a:rPr>
              <a:t>30 орын / 2 емтихан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856840-70C7-4197-924F-9D93B343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Талпыныстардың аяқталуын, тексеру уақытын және сигнал сапасын өлшейміз</a:t>
            </a:r>
          </a:p>
        </p:txBody>
      </p:sp>
    </p:spTree>
    <p:extLst>
      <p:ext uri="{BB962C8B-B14F-4D97-AF65-F5344CB8AC3E}">
        <p14:creationId xmlns:p14="http://schemas.microsoft.com/office/powerpoint/2010/main" val="7782110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3F902E-3B05-4B0E-B4B5-89293772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0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Sergек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D68EBD-DF26-40BE-AB9B-7F7C9959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20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AE76AD-0096-4081-9B6D-7BD4BA4503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82dfae63d14c4a"/>
          <a:stretch xmlns:a="http://schemas.openxmlformats.org/drawingml/2006/main"/>
        </p:blipFill>
        <p:spPr>
          <a:xfrm xmlns:a="http://schemas.openxmlformats.org/drawingml/2006/main">
            <a:off x="4049" y="0"/>
            <a:ext cx="15231902" cy="8572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51103-FFC0-4986-9915-3A7A8DC5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23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84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840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8400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Sergек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D36C55-4695-494A-9FE1-9048A846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76625"/>
            <a:ext cx="762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Бірден ескертеді.</a:t>
            </a:r>
          </a:p>
          <a:p xmlns:a="http://schemas.openxmlformats.org/drawingml/2006/main">
            <a:pPr>
              <a:defRPr sz="345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Контексті сақтайды.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0D3FEC-8B7B-413D-9CA7-F3BF8D4A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29250"/>
            <a:ext cx="790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850" b="1">
                <a:solidFill>
                  <a:srgbClr val="087E7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087E73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087E73"/>
                </a:solidFill>
                <a:latin typeface="Segoe UI"/>
                <a:ea typeface="Segoe UI"/>
                <a:cs typeface="Segoe UI"/>
              </a:rPr>
              <a:t>КРУ-мен пилотқа дайынбыз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0F5520-C8CF-4AE2-BDE3-70F807CD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77000"/>
            <a:ext cx="838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Astana IT University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A1C316-0A8F-4175-8283-404E041E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048500"/>
            <a:ext cx="1304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453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163453"/>
                </a:solidFill>
                <a:latin typeface="Segoe UI"/>
                <a:ea typeface="Segoe UI"/>
                <a:cs typeface="Segoe UI"/>
              </a:rPr>
              <a:t>Бердібек Мейірбек / Алхамқайыр Бекзат / Сабыр Аслан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767CB7-0388-43DE-9DED-C3DCDB5C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620000"/>
            <a:ext cx="1304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B85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26B85"/>
                </a:solidFill>
                <a:latin typeface="Segoe UI"/>
                <a:ea typeface="Segoe UI"/>
                <a:cs typeface="Segoe UI"/>
              </a:rPr>
              <a:t>+7 775 747 86 01 / berdibekmejirbek08@gmail.com</a:t>
            </a:r>
          </a:p>
        </p:txBody>
      </p:sp>
    </p:spTree>
    <p:extLst>
      <p:ext uri="{BB962C8B-B14F-4D97-AF65-F5344CB8AC3E}">
        <p14:creationId xmlns:p14="http://schemas.microsoft.com/office/powerpoint/2010/main" val="4259566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2026-10-15T19:02:10.5660000Z</dcterms:created>
  <dcterms:modified xsi:type="dcterms:W3CDTF">2026-10-15T19:02:10.5660000Z</dcterms:modified>
</coreProperties>
</file>