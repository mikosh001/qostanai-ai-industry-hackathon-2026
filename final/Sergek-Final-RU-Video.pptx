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mp4" ContentType="video/mp4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369a849b584092" /><Relationship Type="http://schemas.openxmlformats.org/officeDocument/2006/relationships/extended-properties" Target="/docProps/app.xml" Id="R106c863d30b04f92" /><Relationship Type="http://schemas.openxmlformats.org/officeDocument/2006/relationships/officeDocument" Target="/ppt/presentation.xml" Id="R400964ab1e9344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041d67f12d4098"/>
  </p:sldMasterIdLst>
  <p:notesMasterIdLst>
    <p:notesMasterId xmlns:r="http://schemas.openxmlformats.org/officeDocument/2006/relationships" r:id="Rc3af00caa4c04009"/>
  </p:notesMasterIdLst>
  <p:sldIdLst>
    <p:sldId xmlns:r="http://schemas.openxmlformats.org/officeDocument/2006/relationships" id="256" r:id="R36f64b7b30364c6d"/>
    <p:sldId xmlns:r="http://schemas.openxmlformats.org/officeDocument/2006/relationships" id="257" r:id="R5a24b750d39943b4"/>
    <p:sldId xmlns:r="http://schemas.openxmlformats.org/officeDocument/2006/relationships" id="258" r:id="R0248a92d7c8f487e"/>
    <p:sldId xmlns:r="http://schemas.openxmlformats.org/officeDocument/2006/relationships" id="259" r:id="Rf72afeefd2a24d8a"/>
    <p:sldId xmlns:r="http://schemas.openxmlformats.org/officeDocument/2006/relationships" id="260" r:id="R5a45f9b4f8e5424f"/>
    <p:sldId xmlns:r="http://schemas.openxmlformats.org/officeDocument/2006/relationships" id="261" r:id="Ra39106a3e6524bd5"/>
    <p:sldId xmlns:r="http://schemas.openxmlformats.org/officeDocument/2006/relationships" id="262" r:id="Ra6fb973973744b3e"/>
    <p:sldId xmlns:r="http://schemas.openxmlformats.org/officeDocument/2006/relationships" id="263" r:id="R55f06891f573421f"/>
    <p:sldId xmlns:r="http://schemas.openxmlformats.org/officeDocument/2006/relationships" id="264" r:id="Rf62f534825a1496e"/>
    <p:sldId xmlns:r="http://schemas.openxmlformats.org/officeDocument/2006/relationships" id="265" r:id="Rbce2038457254320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6c6a4d47324996" /><Relationship Type="http://schemas.openxmlformats.org/officeDocument/2006/relationships/slideMaster" Target="/ppt/slideMasters/slideMaster1.xml" Id="Rb6041d67f12d4098" /><Relationship Type="http://schemas.openxmlformats.org/officeDocument/2006/relationships/notesMaster" Target="/ppt/notesMasters/notesMaster1.xml" Id="Rc3af00caa4c04009" /><Relationship Type="http://schemas.openxmlformats.org/officeDocument/2006/relationships/presProps" Target="/ppt/presProps.xml" Id="R1ccb42bd58084065" /><Relationship Type="http://schemas.openxmlformats.org/officeDocument/2006/relationships/tableStyles" Target="/ppt/tableStyles.xml" Id="R725d658df22a48e3" /><Relationship Type="http://schemas.openxmlformats.org/officeDocument/2006/relationships/slide" Target="/ppt/slides/slide1.xml" Id="R36f64b7b30364c6d" /><Relationship Type="http://schemas.openxmlformats.org/officeDocument/2006/relationships/slide" Target="/ppt/slides/slide2.xml" Id="R5a24b750d39943b4" /><Relationship Type="http://schemas.openxmlformats.org/officeDocument/2006/relationships/slide" Target="/ppt/slides/slide3.xml" Id="R0248a92d7c8f487e" /><Relationship Type="http://schemas.openxmlformats.org/officeDocument/2006/relationships/slide" Target="/ppt/slides/slide4.xml" Id="Rf72afeefd2a24d8a" /><Relationship Type="http://schemas.openxmlformats.org/officeDocument/2006/relationships/slide" Target="/ppt/slides/slide5.xml" Id="R5a45f9b4f8e5424f" /><Relationship Type="http://schemas.openxmlformats.org/officeDocument/2006/relationships/slide" Target="/ppt/slides/slide6.xml" Id="Ra39106a3e6524bd5" /><Relationship Type="http://schemas.openxmlformats.org/officeDocument/2006/relationships/slide" Target="/ppt/slides/slide7.xml" Id="Ra6fb973973744b3e" /><Relationship Type="http://schemas.openxmlformats.org/officeDocument/2006/relationships/slide" Target="/ppt/slides/slide8.xml" Id="R55f06891f573421f" /><Relationship Type="http://schemas.openxmlformats.org/officeDocument/2006/relationships/slide" Target="/ppt/slides/slide9.xml" Id="Rf62f534825a1496e" /><Relationship Type="http://schemas.openxmlformats.org/officeDocument/2006/relationships/slide" Target="/ppt/slides/slide10.xml" Id="Rbce20384572543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f0a4bc7c69d45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9e70c8ac964f55" /><Relationship Type="http://schemas.openxmlformats.org/officeDocument/2006/relationships/notesMaster" Target="/ppt/notesMasters/notesMaster1.xml" Id="R0460375e13ee429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3ac29b5ac5343cd" /><Relationship Type="http://schemas.openxmlformats.org/officeDocument/2006/relationships/notesMaster" Target="/ppt/notesMasters/notesMaster1.xml" Id="R342c2a20dfac4a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3298e7d6bc84031" /><Relationship Type="http://schemas.openxmlformats.org/officeDocument/2006/relationships/notesMaster" Target="/ppt/notesMasters/notesMaster1.xml" Id="R422ee991a58845d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78e2907f67e41dc" /><Relationship Type="http://schemas.openxmlformats.org/officeDocument/2006/relationships/notesMaster" Target="/ppt/notesMasters/notesMaster1.xml" Id="R09cd71ec889c44a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2b1b7583114a7a" /><Relationship Type="http://schemas.openxmlformats.org/officeDocument/2006/relationships/notesMaster" Target="/ppt/notesMasters/notesMaster1.xml" Id="Rb505cfc35233439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5ef27227dfc42d7" /><Relationship Type="http://schemas.openxmlformats.org/officeDocument/2006/relationships/notesMaster" Target="/ppt/notesMasters/notesMaster1.xml" Id="Re7e0b9efe8ea4e0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2874ae4d7ab458a" /><Relationship Type="http://schemas.openxmlformats.org/officeDocument/2006/relationships/notesMaster" Target="/ppt/notesMasters/notesMaster1.xml" Id="R622e40f25528470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6e078dfd2044386" /><Relationship Type="http://schemas.openxmlformats.org/officeDocument/2006/relationships/notesMaster" Target="/ppt/notesMasters/notesMaster1.xml" Id="Rd8f46e8c84d5406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a050452be0a4ffd" /><Relationship Type="http://schemas.openxmlformats.org/officeDocument/2006/relationships/notesMaster" Target="/ppt/notesMasters/notesMaster1.xml" Id="R39b0f09dbd0e40e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d3feef952f5468c" /><Relationship Type="http://schemas.openxmlformats.org/officeDocument/2006/relationships/notesMaster" Target="/ppt/notesMasters/notesMaster1.xml" Id="Raa39470afa194e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Спикер 1 / 0–12 сек</a:t>
            </a:r>
          </a:p>
          <a:p xmlns:a="http://schemas.openxmlformats.org/drawingml/2006/main">
            <a:r>
              <a:t>Открыт Moodle. Рядом телефон с ответами. Как доверять результату экзамена? Мы команда Sergек из Astana IT University. Наш проект защищает условия, в которых студент получает оценку.</a:t>
            </a:r>
          </a:p>
          <a:p xmlns:a="http://schemas.openxmlformats.org/drawingml/2006/main">
            <a:r>
              <a:t>Действие: Начать спокойно. Посмотреть на жюри. Короткая пауза после вопроса.</a:t>
            </a:r>
          </a:p>
          <a:p xmlns:a="http://schemas.openxmlformats.org/drawingml/2006/main">
            <a:r>
              <a:t>Фон: ранее созданная концептуальная иллюстрация проекта. Не фотография реального внедрения.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Спикер 1 / 12–25 сек</a:t>
            </a:r>
          </a:p>
          <a:p xmlns:a="http://schemas.openxmlformats.org/drawingml/2006/main">
            <a:r>
              <a:t>В кейсе КРУ важно увидеть телефон, постороннюю помощь и попытку выйти из рабочей среды. Преподавателю нужен понятный эпизод с доказательством, чтобы быстро проверить ситуацию.</a:t>
            </a:r>
          </a:p>
          <a:p xmlns:a="http://schemas.openxmlformats.org/drawingml/2006/main">
            <a:r>
              <a:t>Действие: Не перечислять весь интерфейс. Связать каждый риск с задачей университета.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Спикер 1 / 25–43 сек</a:t>
            </a:r>
          </a:p>
          <a:p xmlns:a="http://schemas.openxmlformats.org/drawingml/2006/main">
            <a:r>
              <a:t>Sergек связывает Moodle с локальным AI и защитой Windows. Камера анализирует телефон, лицо и взгляд, микрофон отслеживает устойчивую звуковую активность. Агент ограничивает приложения, USB и удалённый доступ. Начало защиты привязано к попытке теста.</a:t>
            </a:r>
          </a:p>
          <a:p xmlns:a="http://schemas.openxmlformats.org/drawingml/2006/main">
            <a:r>
              <a:t>Действие: На словах «попытке теста» передать оператору знак для видео.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Спикер 1 / 43–83 сек</a:t>
            </a:r>
          </a:p>
          <a:p xmlns:a="http://schemas.openxmlformats.org/drawingml/2006/main">
            <a:r>
              <a:t>Покажем путь студента: он входит в Moodle под своим аккаунтом. Перед экзаменом делает фото — оно используется для проверки личности во время теста. С началом теста включается контроль. Sergек объединяет камеру, звук, запись экрана и защиту рабочего места. Появился телефон — студент сразу получает предупреждение. Приоритет проверки растёт с длительностью события: пять, десять, пятнадцать баллов. После сдачи преподаватель начинает с важных эпизодов: открывает событие, смотрит запись экрана и оценивает, что произошло. Система фиксирует события. Решение принимает преподаватель. Результат проверки сохраняется в журнале.</a:t>
            </a:r>
          </a:p>
          <a:p xmlns:a="http://schemas.openxmlformats.org/drawingml/2006/main">
            <a:r>
              <a:t>Действие: Говорить синхронно с видео, не быстрее кадра. На последней фразе повернуться ко второму спикеру.</a:t>
            </a:r>
          </a:p>
          <a:p xmlns:a="http://schemas.openxmlformats.org/drawingml/2006/main">
            <a:r>
              <a:t>Реальный интерфейс, локальный Moodle и фото с размытым общедоступным тестовым портретом. Телефонный эпизод использует контрольный вход правила. Глобальная защита Windows во время записи отключена. Лицо пользователя и частные QA-записи не используются.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Спикер 2 / 83–103 сек</a:t>
            </a:r>
          </a:p>
          <a:p xmlns:a="http://schemas.openxmlformats.org/drawingml/2006/main">
            <a:r>
              <a:t>Наш ключевой акцент — предупреждение сразу и оценка по длительности. Телефон: пять баллов при уверенном обнаружении, затем десять, пятнадцать и двадцать. Это общий балл одного эпизода. Взгляд оцениваем после пяти секунд, краткий проход преподавателя баллов не добавляет.</a:t>
            </a:r>
          </a:p>
          <a:p xmlns:a="http://schemas.openxmlformats.org/drawingml/2006/main">
            <a:r>
              <a:t>Действие: Показать рукой одну строку шкалы. Числа произносить чётко. Не читать каждую ячейку.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Спикер 2 / 103–119 сек</a:t>
            </a:r>
          </a:p>
          <a:p xmlns:a="http://schemas.openxmlformats.org/drawingml/2006/main">
            <a:r>
              <a:t>В панели первыми идут сессии, требующие внимания. Преподаватель открывает время, историю эпизода и запись. Заблокированные действия вынесены в технический журнал. Решение принимает человек. Шифрование и проверка целостности защищают материалы.</a:t>
            </a:r>
          </a:p>
          <a:p xmlns:a="http://schemas.openxmlformats.org/drawingml/2006/main">
            <a:r>
              <a:t>Действие: Назвать результат для преподавателя. Не называть баллы доказательством вины.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Спикер 2 / 119–135 сек</a:t>
            </a:r>
          </a:p>
          <a:p xmlns:a="http://schemas.openxmlformats.org/drawingml/2006/main">
            <a:r>
              <a:t>Наше предложение для КРУ — локальный анализ, хаб на инфраструктуре вуза и открытый код. Собственный инженерный вклад — связка подписанного допуска, защиты рабочего места и объяснимой очереди проверки. Интерфейс доступен на трёх языках.</a:t>
            </a:r>
          </a:p>
          <a:p xmlns:a="http://schemas.openxmlformats.org/drawingml/2006/main">
            <a:r>
              <a:t>Действие: Не заявлять, что у конкурентов нет функции, если этого не проверяли.</a:t>
            </a:r>
          </a:p>
          <a:p xmlns:a="http://schemas.openxmlformats.org/drawingml/2006/main">
            <a:r>
              <a:t>Источники: https://oes.kz/ и https://safeexambrowser.org/about_overview_en.html, 15.10.2026. Таблица показывает позиционирование, не бенчмарк превосходства. Функции OES не объявляем отсутствующими.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Спикер 2 / 135–150 сек</a:t>
            </a:r>
          </a:p>
          <a:p xmlns:a="http://schemas.openxmlformats.org/drawingml/2006/main">
            <a:r>
              <a:t>Мы проверили 249 сценариев серверной логики и 17 сценариев интерфейса. Полный тест Moodle из пяти вопросов завершён. В нагрузочном испытании хаба сто синтетических сессий завершились без ошибок. Протоколы воспроизводимы.</a:t>
            </a:r>
          </a:p>
          <a:p xmlns:a="http://schemas.openxmlformats.org/drawingml/2006/main">
            <a:r>
              <a:t>Действие: Слово «синтетических» обязательно. Не суммировать проверки из разных сборок.</a:t>
            </a:r>
          </a:p>
          <a:p xmlns:a="http://schemas.openxmlformats.org/drawingml/2006/main">
            <a:r>
              <a:t>Источник: docs/TEST-DURATION-SCORING-2026-10-15.md и tests/results/duration-scoring/2026-10-15.json. 249 backend + 17 UI. Реальный Moodle: программный профиль. Хаб: 32 сек, 4 драйвера, 100 синтетических сессий, 3524 запроса, lease p95 82.63мс. Отдельные физические OS/камеры не входят.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Спикер 2 / 150–165 сек</a:t>
            </a:r>
          </a:p>
          <a:p xmlns:a="http://schemas.openxmlformats.org/drawingml/2006/main">
            <a:r>
              <a:t>Для подключения администратор устанавливает хаб, плагин Moodle и агент на подготовленные компьютеры. Аккаунты и вопросы остаются в Moodle. Предлагаем пилот на тридцати местах и двух экзаменах с измерением завершения и времени проверки.</a:t>
            </a:r>
          </a:p>
          <a:p xmlns:a="http://schemas.openxmlformats.org/drawingml/2006/main">
            <a:r>
              <a:t>Действие: Это предложение пилота. Подчеркнуть сохранение привычного Moodle.</a:t>
            </a:r>
          </a:p>
          <a:p xmlns:a="http://schemas.openxmlformats.org/drawingml/2006/main">
            <a:r>
              <a:t>30 мест, 2 экзамена — предложение пилота, не проведённое внедрение.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Спикер 2 / 165–175 сек</a:t>
            </a:r>
          </a:p>
          <a:p xmlns:a="http://schemas.openxmlformats.org/drawingml/2006/main">
            <a:r>
              <a:t>Sergек помогает остановить риск сразу и даёт преподавателю проверяемый контекст. Мы готовы вместе с КРУ провести пилот. Спасибо, готовы к вопросам.</a:t>
            </a:r>
          </a:p>
          <a:p xmlns:a="http://schemas.openxmlformats.org/drawingml/2006/main">
            <a:r>
              <a:t>Действие: Закончить в 02:55. Смотреть на жюри, не на экран.</a:t>
            </a:r>
          </a:p>
          <a:p xmlns:a="http://schemas.openxmlformats.org/drawingml/2006/main">
            <a:r>
              <a:t>Фон: ранее созданная концептуальная иллюстрация проекта. Не фотография реального внедрения.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0ee36d9fc4432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e6a8f17cdd4a2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def1517a394e7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11a6f07ad6460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44f27fb3f5486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7a4932258140e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5709B0B-0988-41EE-A6E5-835B149A0C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FFDC3CB-4172-4C6F-AC7C-F436DEBCA40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AB0B4C0-3E86-45D4-8092-426EC6D8F1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942AF05-6F5C-4142-B6DA-72AD631CE2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CF5F081-E246-4283-9B85-14CFEECC44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9A2BC5F-C895-41A4-A1B4-D36FC44F7C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7292C0F-E635-43C1-B8D5-93DB425049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D0E3C20-EFDA-4F89-8CD2-5AD9A8D3704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D80CBE4-B3C7-44A2-A40E-496EBD892E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A3F640D-CF2B-4BC7-B774-F3BE989253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8140ce77814e86" /><Relationship Type="http://schemas.openxmlformats.org/officeDocument/2006/relationships/slideLayout" Target="/ppt/slideLayouts/slideLayout1.xml" Id="R2d511ceea8af47f3" /><Relationship Type="http://schemas.openxmlformats.org/officeDocument/2006/relationships/slideLayout" Target="/ppt/slideLayouts/slideLayout2.xml" Id="R80a9562c33be41b7" /><Relationship Type="http://schemas.openxmlformats.org/officeDocument/2006/relationships/slideLayout" Target="/ppt/slideLayouts/slideLayout3.xml" Id="R98ae986f05e94127" /><Relationship Type="http://schemas.openxmlformats.org/officeDocument/2006/relationships/slideLayout" Target="/ppt/slideLayouts/slideLayout4.xml" Id="R7740c48303534795" /><Relationship Type="http://schemas.openxmlformats.org/officeDocument/2006/relationships/slideLayout" Target="/ppt/slideLayouts/slideLayout5.xml" Id="Rc5ae80d0d5ee4491" /><Relationship Type="http://schemas.openxmlformats.org/officeDocument/2006/relationships/slideLayout" Target="/ppt/slideLayouts/slideLayout6.xml" Id="Rcf6f220ce9c448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511ceea8af47f3"/>
    <p:sldLayoutId xmlns:r="http://schemas.openxmlformats.org/officeDocument/2006/relationships" id="2147483650" r:id="R80a9562c33be41b7"/>
    <p:sldLayoutId xmlns:r="http://schemas.openxmlformats.org/officeDocument/2006/relationships" id="2147483651" r:id="R98ae986f05e94127"/>
    <p:sldLayoutId xmlns:r="http://schemas.openxmlformats.org/officeDocument/2006/relationships" id="2147483652" r:id="R7740c48303534795"/>
    <p:sldLayoutId xmlns:r="http://schemas.openxmlformats.org/officeDocument/2006/relationships" id="2147483653" r:id="Rc5ae80d0d5ee4491"/>
    <p:sldLayoutId xmlns:r="http://schemas.openxmlformats.org/officeDocument/2006/relationships" id="2147483654" r:id="Rcf6f220ce9c448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e518508f5349e7" /><Relationship Type="http://schemas.openxmlformats.org/officeDocument/2006/relationships/image" Target="/ppt/media/image.png" Id="R5d3959fd695c423f" /><Relationship Type="http://schemas.openxmlformats.org/officeDocument/2006/relationships/notesSlide" Target="/ppt/notesSlides/notesSlide1.xml" Id="R87b0f7af53f747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276f7fa0ff4038" /><Relationship Type="http://schemas.openxmlformats.org/officeDocument/2006/relationships/notesSlide" Target="/ppt/notesSlides/notesSlide2.xml" Id="R39e8968268a447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80219cceac48f4" /><Relationship Type="http://schemas.openxmlformats.org/officeDocument/2006/relationships/notesSlide" Target="/ppt/notesSlides/notesSlide3.xml" Id="R3ad368a9abbb4598" 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b05bdbc04444e54"/><Relationship Type="http://schemas.openxmlformats.org/officeDocument/2006/relationships/image" Target="/ppt/media/image2.png" Id="R9b7c107974884efd"/><Relationship Type="http://schemas.openxmlformats.org/officeDocument/2006/relationships/notesSlide" Target="/ppt/notesSlides/notesSlide4.xml" Id="Rb85725b2afa04b43"/><Relationship Id="rIdSergekVideo" Type="http://schemas.openxmlformats.org/officeDocument/2006/relationships/video" Target="../media/sergek-demo.mp4"/><Relationship Id="rIdSergekMedia" Type="http://schemas.microsoft.com/office/2007/relationships/media" Target="../media/sergek-demo.mp4"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0e710284db40a7" /><Relationship Type="http://schemas.openxmlformats.org/officeDocument/2006/relationships/notesSlide" Target="/ppt/notesSlides/notesSlide5.xml" Id="R7e5a07bdc62f495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d485f222ee4016" /><Relationship Type="http://schemas.openxmlformats.org/officeDocument/2006/relationships/image" Target="/ppt/media/image3.png" Id="R1eb2e560c393450d" /><Relationship Type="http://schemas.openxmlformats.org/officeDocument/2006/relationships/notesSlide" Target="/ppt/notesSlides/notesSlide6.xml" Id="R626d6986f97649a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49471372fc45a0" /><Relationship Type="http://schemas.openxmlformats.org/officeDocument/2006/relationships/notesSlide" Target="/ppt/notesSlides/notesSlide7.xml" Id="R217ce125db6e40a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113bfd6f754ba9" /><Relationship Type="http://schemas.openxmlformats.org/officeDocument/2006/relationships/notesSlide" Target="/ppt/notesSlides/notesSlide8.xml" Id="R49b2eb91fb644b9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0f47cd355341ca" /><Relationship Type="http://schemas.openxmlformats.org/officeDocument/2006/relationships/notesSlide" Target="/ppt/notesSlides/notesSlide9.xml" Id="R7947b341b0a44cc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0e5c2ffd144ddb" /><Relationship Type="http://schemas.openxmlformats.org/officeDocument/2006/relationships/image" Target="/ppt/media/image4.png" Id="Rc2de6a1d4bdd4fe2" /><Relationship Type="http://schemas.openxmlformats.org/officeDocument/2006/relationships/notesSlide" Target="/ppt/notesSlides/notesSlide10.xml" Id="Rf49c43579c564da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FD9AD4-DEBF-42FF-AB73-9A92C143B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00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526B85"/>
                </a:solidFill>
                <a:latin typeface="Segoe UI"/>
                <a:ea typeface="Segoe UI"/>
                <a:cs typeface="Segoe UI"/>
              </a:rPr>
              <a:t>Sergек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D4D305-493B-457F-B530-B4F3F2470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200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26B85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AB9E2A-E731-4880-A5AA-F756009C1B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3959fd695c423f"/>
          <a:stretch xmlns:a="http://schemas.openxmlformats.org/drawingml/2006/main"/>
        </p:blipFill>
        <p:spPr>
          <a:xfrm xmlns:a="http://schemas.openxmlformats.org/drawingml/2006/main">
            <a:off x="4049" y="0"/>
            <a:ext cx="15231902" cy="8572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F37745-96AF-430D-886D-F2841F058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"/>
            <a:ext cx="133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245DE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45DE8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245DE8"/>
                </a:solidFill>
                <a:latin typeface="Segoe UI"/>
                <a:ea typeface="Segoe UI"/>
                <a:cs typeface="Segoe UI"/>
              </a:rPr>
              <a:t>QOSTANAI AI INDUSTRY HACKATHON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5BBBC3-3E71-41ED-9290-0DE346B7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7620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150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9150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9150" b="1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Sergек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8EB516-A63B-45C5-B0E5-AF32FB49F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52875"/>
            <a:ext cx="685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Локальный прокторинг</a:t>
            </a:r>
          </a:p>
          <a:p xmlns:a="http://schemas.openxmlformats.org/drawingml/2006/main">
            <a:pPr>
              <a:defRPr sz="3300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для экзаменов Moodle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629666-048A-4B48-BFF3-A558285CE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810250"/>
            <a:ext cx="704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526B85"/>
                </a:solidFill>
                <a:latin typeface="Segoe UI"/>
                <a:ea typeface="Segoe UI"/>
                <a:cs typeface="Segoe UI"/>
              </a:rPr>
              <a:t>Защищённая среда. Понятные доказательства.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C80E42-9026-4FB1-B6C3-87EF6C2CB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477125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Astana IT University</a:t>
            </a:r>
          </a:p>
        </p:txBody>
      </p:sp>
    </p:spTree>
    <p:extLst>
      <p:ext uri="{BB962C8B-B14F-4D97-AF65-F5344CB8AC3E}">
        <p14:creationId xmlns:p14="http://schemas.microsoft.com/office/powerpoint/2010/main" val="10142787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5763D6-3F47-4E46-B60D-AB4D82E95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3716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3900" b="1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Риски во время экзамена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D17CA4-52A0-4CFA-A06D-7B6DB0F2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00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526B85"/>
                </a:solidFill>
                <a:latin typeface="Segoe UI"/>
                <a:ea typeface="Segoe UI"/>
                <a:cs typeface="Segoe UI"/>
              </a:rPr>
              <a:t>Sergек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1EF580-0927-462F-95CF-36641BEB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200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26B85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ABAA91-4A5A-4F6E-A304-37A048A5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95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4050" b="1">
                <a:solidFill>
                  <a:srgbClr val="245DE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245DE8"/>
                </a:solidFill>
                <a:latin typeface="Segoe UI"/>
                <a:ea typeface="Segoe UI"/>
                <a:cs typeface="Segoe UI"/>
              </a:defRPr>
            </a:pPr>
            <a:r>
              <a:rPr sz="4050" b="1">
                <a:solidFill>
                  <a:srgbClr val="245DE8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EBB292-D845-4E61-83DF-718CDA7F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95500"/>
            <a:ext cx="1219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3000" b="1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Телефон и подсказки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E0B7CA-04CA-4418-80D8-4BA90D2E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762250"/>
            <a:ext cx="1219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526B85"/>
                </a:solidFill>
                <a:latin typeface="Segoe UI"/>
                <a:ea typeface="Segoe UI"/>
                <a:cs typeface="Segoe UI"/>
              </a:rPr>
              <a:t>Камера фиксирует предмет и длительность эпизода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9C3179-56E1-4C6B-A12D-9021B585B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81425"/>
            <a:ext cx="95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4050" b="1">
                <a:solidFill>
                  <a:srgbClr val="245DE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245DE8"/>
                </a:solidFill>
                <a:latin typeface="Segoe UI"/>
                <a:ea typeface="Segoe UI"/>
                <a:cs typeface="Segoe UI"/>
              </a:defRPr>
            </a:pPr>
            <a:r>
              <a:rPr sz="4050" b="1">
                <a:solidFill>
                  <a:srgbClr val="245DE8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9980ED-D844-465D-8C91-448A7004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781425"/>
            <a:ext cx="1219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3000" b="1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Помощь или замена студента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6124F0-1D42-4BC0-8F1D-20C90067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48175"/>
            <a:ext cx="1219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526B85"/>
                </a:solidFill>
                <a:latin typeface="Segoe UI"/>
                <a:ea typeface="Segoe UI"/>
                <a:cs typeface="Segoe UI"/>
              </a:rPr>
              <a:t>Сравнение с фото и проверка числа людей в кадре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BC69D4-F1B1-47F9-9009-DC27E11E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67350"/>
            <a:ext cx="95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4050" b="1">
                <a:solidFill>
                  <a:srgbClr val="245DE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245DE8"/>
                </a:solidFill>
                <a:latin typeface="Segoe UI"/>
                <a:ea typeface="Segoe UI"/>
                <a:cs typeface="Segoe UI"/>
              </a:defRPr>
            </a:pPr>
            <a:r>
              <a:rPr sz="4050" b="1">
                <a:solidFill>
                  <a:srgbClr val="245DE8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F96C45-7457-40C5-958F-A9CFA314B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467350"/>
            <a:ext cx="1219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3000" b="1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Выход из рабочей среды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94D2FC-DB0A-4D94-A682-757647761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134100"/>
            <a:ext cx="1219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526B85"/>
                </a:solidFill>
                <a:latin typeface="Segoe UI"/>
                <a:ea typeface="Segoe UI"/>
                <a:cs typeface="Segoe UI"/>
              </a:rPr>
              <a:t>Защита окон, клавиш, USB и удалённого управления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3CE5A5-B687-470F-8A98-E642C1DFA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0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87E7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7E73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087E73"/>
                </a:solidFill>
                <a:latin typeface="Segoe UI"/>
                <a:ea typeface="Segoe UI"/>
                <a:cs typeface="Segoe UI"/>
              </a:rPr>
              <a:t>Цель КРУ: проверяемые условия сдачи в привычном Moodle</a:t>
            </a:r>
          </a:p>
        </p:txBody>
      </p:sp>
    </p:spTree>
    <p:extLst>
      <p:ext uri="{BB962C8B-B14F-4D97-AF65-F5344CB8AC3E}">
        <p14:creationId xmlns:p14="http://schemas.microsoft.com/office/powerpoint/2010/main" val="1761265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D1495A-FA0A-49AA-873A-B0F12D602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3716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3900" b="1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Защита на компьютере студента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B20D58-8012-40E2-9DFD-5B68C7F55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00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526B85"/>
                </a:solidFill>
                <a:latin typeface="Segoe UI"/>
                <a:ea typeface="Segoe UI"/>
                <a:cs typeface="Segoe UI"/>
              </a:rPr>
              <a:t>Sergек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F28B03-94EC-44C2-9F54-529B85269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200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26B85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6B3273-2E64-480A-8AA4-2AA9BC75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409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245DE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45DE8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245DE8"/>
                </a:solidFill>
                <a:latin typeface="Segoe UI"/>
                <a:ea typeface="Segoe UI"/>
                <a:cs typeface="Segoe UI"/>
              </a:rPr>
              <a:t>Moodle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063E8A-7DB7-4BC6-B0CB-AAD61C8F2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4048125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Свой аккаунт</a:t>
            </a:r>
          </a:p>
          <a:p xmlns:a="http://schemas.openxmlformats.org/drawingml/2006/main">
            <a:pPr>
              <a:defRPr sz="2400" b="0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и выбранный тест</a:t>
            </a:r>
          </a:p>
          <a:p xmlns:a="http://schemas.openxmlformats.org/drawingml/2006/main">
            <a:pPr>
              <a:defRPr sz="2400" b="0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Начало по Start attempt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B948C8-0462-4139-8EAF-4D0B80313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00250"/>
            <a:ext cx="409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245DE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45DE8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245DE8"/>
                </a:solidFill>
                <a:latin typeface="Segoe UI"/>
                <a:ea typeface="Segoe UI"/>
                <a:cs typeface="Segoe UI"/>
              </a:rPr>
              <a:t>Локальный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F991DC-77BB-49C1-ABCB-E0D2B1B8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57500"/>
            <a:ext cx="4048125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Телефон и лицо</a:t>
            </a:r>
          </a:p>
          <a:p xmlns:a="http://schemas.openxmlformats.org/drawingml/2006/main">
            <a:pPr>
              <a:defRPr sz="2400" b="0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Направление взгляда</a:t>
            </a:r>
          </a:p>
          <a:p xmlns:a="http://schemas.openxmlformats.org/drawingml/2006/main">
            <a:pPr>
              <a:defRPr sz="2400" b="0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Голос и устойчивый шум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A5DFE2-7B66-422C-992D-9DBFF20DA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00250"/>
            <a:ext cx="3905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245DE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45DE8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245DE8"/>
                </a:solidFill>
                <a:latin typeface="Segoe UI"/>
                <a:ea typeface="Segoe UI"/>
                <a:cs typeface="Segoe UI"/>
              </a:rPr>
              <a:t>Windows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B27B68-2978-4D1C-B274-78244B421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0"/>
            <a:ext cx="390525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Приложения и окна</a:t>
            </a:r>
          </a:p>
          <a:p xmlns:a="http://schemas.openxmlformats.org/drawingml/2006/main">
            <a:pPr>
              <a:defRPr sz="2400" b="0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Клавиши и USB</a:t>
            </a:r>
          </a:p>
          <a:p xmlns:a="http://schemas.openxmlformats.org/drawingml/2006/main">
            <a:pPr>
              <a:defRPr sz="2400" b="0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Удалённое управление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3E574D-3A85-42AF-9711-3A375E60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925" b="1">
                <a:solidFill>
                  <a:srgbClr val="087E7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087E73"/>
                </a:solidFill>
                <a:latin typeface="Segoe UI"/>
                <a:ea typeface="Segoe UI"/>
                <a:cs typeface="Segoe UI"/>
              </a:defRPr>
            </a:pPr>
            <a:r>
              <a:rPr sz="2925" b="1">
                <a:solidFill>
                  <a:srgbClr val="087E73"/>
                </a:solidFill>
                <a:latin typeface="Segoe UI"/>
                <a:ea typeface="Segoe UI"/>
                <a:cs typeface="Segoe UI"/>
              </a:rPr>
              <a:t>Одна сессия связывает тест, устройство и доказательства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D99E59-005B-4417-B34B-B9C1A30A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26B85"/>
                </a:solidFill>
                <a:latin typeface="Segoe UI"/>
                <a:ea typeface="Segoe UI"/>
                <a:cs typeface="Segoe UI"/>
              </a:rPr>
              <a:t>YOLO / ONNX Runtime / MediaPipe / SFace / Silero VAD</a:t>
            </a:r>
          </a:p>
        </p:txBody>
      </p:sp>
    </p:spTree>
    <p:extLst>
      <p:ext uri="{BB962C8B-B14F-4D97-AF65-F5344CB8AC3E}">
        <p14:creationId xmlns:p14="http://schemas.microsoft.com/office/powerpoint/2010/main" val="4233557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C4D44F-2A43-425F-9B8F-435ECE8E6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00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526B85"/>
                </a:solidFill>
                <a:latin typeface="Segoe UI"/>
                <a:ea typeface="Segoe UI"/>
                <a:cs typeface="Segoe UI"/>
              </a:rPr>
              <a:t>Sergек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6F7C4F-F905-46E1-8AD1-17B58011F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200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26B85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pic>
        <p:nvPicPr>
          <p:cNvPr id="3" name="Sergек demo video">
            <a:extLst xmlns:a="http://schemas.openxmlformats.org/drawingml/2006/main">
              <a:ext uri="{FF2B5EF4-FFF2-40B4-BE49-F238E27FC236}">
                <a16:creationId xmlns:a16="http://schemas.microsoft.com/office/drawing/2014/main" id="{97301797-7EE4-416D-8628-84D1298C31DA}"/>
              </a:ext>
            </a:extLst>
            <ns0:hlinkClick xmlns:ns0="http://schemas.openxmlformats.org/drawingml/2006/main" action="ppaction://media"/>
          </p:cNvPr>
          <p:cNvPicPr>
            <a:picLocks xmlns:a="http://schemas.openxmlformats.org/drawingml/2006/main" noChangeAspect="1"/>
          </p:cNvPicPr>
          <p:nvPr>
            <ns1:videoFile xmlns:ns1="http://schemas.openxmlformats.org/drawingml/2006/main" xmlns:ns2="http://schemas.openxmlformats.org/officeDocument/2006/relationships" ns2:link="rIdSergekVideo"/>
            <p:extLst>
              <p:ext uri="{DAA4B4D4-6D71-4841-9C94-3DE7FCFB9230}">
                <ns3:media xmlns:ns3="http://schemas.microsoft.com/office/powerpoint/2010/main" xmlns:ns4="http://schemas.openxmlformats.org/officeDocument/2006/relationships" ns4:embed="rIdSergekMedia"/>
              </p:ext>
            </p:extLst>
          </p:nvPr>
        </p:nvPicPr>
        <p:blipFill>
          <a:blip xmlns:r="http://schemas.openxmlformats.org/officeDocument/2006/relationships" xmlns:a="http://schemas.openxmlformats.org/drawingml/2006/main" r:embed="R9b7c107974884efd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523465"/>
      </p:ext>
    </p:extLst>
  </p:cSld>
  <p:timing>
    <p:tnLst>
      <p:par>
        <p:cTn id="1" dur="indefinite" restart="never" nodeType="tmRoot">
          <p:childTnLst>
            <p:video>
              <p:cMediaNode vol="0">
                <p:cTn id="2" fill="hold" display="0">
                  <p:stCondLst>
                    <p:cond delay="0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13C749-6A24-4AF9-9CE5-86E0CBC00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3716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3900" b="1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Один эпизод. Понятный приоритет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CA9255-2DF3-4002-A5CD-97BCF22A4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00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526B85"/>
                </a:solidFill>
                <a:latin typeface="Segoe UI"/>
                <a:ea typeface="Segoe UI"/>
                <a:cs typeface="Segoe UI"/>
              </a:rPr>
              <a:t>Sergек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94AE7A-827F-4A63-B560-131D1748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200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26B85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943A90-4D29-4914-8D82-42CEF256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371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850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Телефон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D5E300-3AE9-48E8-B58F-8C1CC9E559CC}"/>
              </a:ext>
            </a:extLst>
          </p:cNvPr>
          <p:cNvGraphicFramePr/>
          <p:nvPr/>
        </p:nvGraphicFramePr>
        <p:xfrm>
          <a:off xmlns:a="http://schemas.openxmlformats.org/drawingml/2006/main" x="762000" y="2667000"/>
          <a:ext xmlns:a="http://schemas.openxmlformats.org/drawingml/2006/main" cx="13716000" cy="1809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3429000"/>
                <a:gridCol w="3429000"/>
                <a:gridCol w="3429000"/>
              </a:tblGrid>
              <a:tr h="809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33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Сразу</a:t>
                      </a:r>
                    </a:p>
                  </a:txBody>
                  <a:tcPr marL="91440" marR="91440" marT="45720" marB="45720">
                    <a:lnL w="0">
                      <a:solidFill>
                        <a:srgbClr val="F3F7FF"/>
                      </a:solidFill>
                    </a:lnL>
                    <a:lnR w="0">
                      <a:solidFill>
                        <a:srgbClr val="F3F7FF"/>
                      </a:solidFill>
                    </a:lnR>
                    <a:lnT w="0">
                      <a:solidFill>
                        <a:srgbClr val="F3F7FF"/>
                      </a:solidFill>
                    </a:lnT>
                    <a:lnB w="0">
                      <a:solidFill>
                        <a:srgbClr val="F3F7FF"/>
                      </a:solidFill>
                    </a:lnB>
                    <a:solidFill>
                      <a:srgbClr val="245D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33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2 сек</a:t>
                      </a:r>
                    </a:p>
                  </a:txBody>
                  <a:tcPr marL="91440" marR="91440" marT="45720" marB="45720">
                    <a:lnR w="0">
                      <a:solidFill>
                        <a:srgbClr val="F3F7FF"/>
                      </a:solidFill>
                    </a:lnR>
                    <a:lnT w="0">
                      <a:solidFill>
                        <a:srgbClr val="F3F7FF"/>
                      </a:solidFill>
                    </a:lnT>
                    <a:lnB w="0">
                      <a:solidFill>
                        <a:srgbClr val="F3F7FF"/>
                      </a:solidFill>
                    </a:lnB>
                    <a:solidFill>
                      <a:srgbClr val="245D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33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5 сек</a:t>
                      </a:r>
                    </a:p>
                  </a:txBody>
                  <a:tcPr marL="91440" marR="91440" marT="45720" marB="45720">
                    <a:lnR w="0">
                      <a:solidFill>
                        <a:srgbClr val="F3F7FF"/>
                      </a:solidFill>
                    </a:lnR>
                    <a:lnT w="0">
                      <a:solidFill>
                        <a:srgbClr val="F3F7FF"/>
                      </a:solidFill>
                    </a:lnT>
                    <a:lnB w="0">
                      <a:solidFill>
                        <a:srgbClr val="F3F7FF"/>
                      </a:solidFill>
                    </a:lnB>
                    <a:solidFill>
                      <a:srgbClr val="245D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33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10 сек</a:t>
                      </a:r>
                    </a:p>
                  </a:txBody>
                  <a:tcPr marL="91440" marR="91440" marT="45720" marB="45720">
                    <a:lnR w="0">
                      <a:solidFill>
                        <a:srgbClr val="F3F7FF"/>
                      </a:solidFill>
                    </a:lnR>
                    <a:lnT w="0">
                      <a:solidFill>
                        <a:srgbClr val="F3F7FF"/>
                      </a:solidFill>
                    </a:lnT>
                    <a:lnB w="0">
                      <a:solidFill>
                        <a:srgbClr val="F3F7FF"/>
                      </a:solidFill>
                    </a:lnB>
                    <a:solidFill>
                      <a:srgbClr val="245DE8"/>
                    </a:solidFill>
                  </a:tcPr>
                </a:tc>
              </a:tr>
              <a:tr h="1000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3300" b="1">
                          <a:solidFill>
                            <a:srgbClr val="163453"/>
                          </a:solidFill>
                          <a:latin typeface="Segoe UI"/>
                          <a:ea typeface="Segoe UI"/>
                          <a:cs typeface="Segoe UI"/>
                        </a:rPr>
                        <a:t>5</a:t>
                      </a:r>
                    </a:p>
                  </a:txBody>
                  <a:tcPr marL="91440" marR="91440" marT="45720" marB="45720">
                    <a:lnL w="0">
                      <a:solidFill>
                        <a:srgbClr val="F3F7FF"/>
                      </a:solidFill>
                    </a:lnL>
                    <a:lnR w="0">
                      <a:solidFill>
                        <a:srgbClr val="F3F7FF"/>
                      </a:solidFill>
                    </a:lnR>
                    <a:lnB w="0">
                      <a:solidFill>
                        <a:srgbClr val="F3F7FF"/>
                      </a:solidFill>
                    </a:lnB>
                    <a:solidFill>
                      <a:srgbClr val="E4F3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3300" b="0">
                          <a:solidFill>
                            <a:srgbClr val="163453"/>
                          </a:solidFill>
                          <a:latin typeface="Segoe UI"/>
                          <a:ea typeface="Segoe UI"/>
                          <a:cs typeface="Segoe UI"/>
                        </a:rPr>
                        <a:t>10</a:t>
                      </a:r>
                    </a:p>
                  </a:txBody>
                  <a:tcPr marL="91440" marR="91440" marT="45720" marB="45720">
                    <a:lnR w="0">
                      <a:solidFill>
                        <a:srgbClr val="F3F7FF"/>
                      </a:solidFill>
                    </a:lnR>
                    <a:lnB w="0">
                      <a:solidFill>
                        <a:srgbClr val="F3F7FF"/>
                      </a:solidFill>
                    </a:lnB>
                    <a:solidFill>
                      <a:srgbClr val="E4F3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3300" b="0">
                          <a:solidFill>
                            <a:srgbClr val="163453"/>
                          </a:solidFill>
                          <a:latin typeface="Segoe UI"/>
                          <a:ea typeface="Segoe UI"/>
                          <a:cs typeface="Segoe UI"/>
                        </a:rPr>
                        <a:t>15</a:t>
                      </a:r>
                    </a:p>
                  </a:txBody>
                  <a:tcPr marL="91440" marR="91440" marT="45720" marB="45720">
                    <a:lnR w="0">
                      <a:solidFill>
                        <a:srgbClr val="F3F7FF"/>
                      </a:solidFill>
                    </a:lnR>
                    <a:lnB w="0">
                      <a:solidFill>
                        <a:srgbClr val="F3F7FF"/>
                      </a:solidFill>
                    </a:lnB>
                    <a:solidFill>
                      <a:srgbClr val="E4F3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3300" b="0">
                          <a:solidFill>
                            <a:srgbClr val="163453"/>
                          </a:solidFill>
                          <a:latin typeface="Segoe UI"/>
                          <a:ea typeface="Segoe UI"/>
                          <a:cs typeface="Segoe UI"/>
                        </a:rPr>
                        <a:t>20</a:t>
                      </a:r>
                    </a:p>
                  </a:txBody>
                  <a:tcPr marL="91440" marR="91440" marT="45720" marB="45720">
                    <a:lnR w="0">
                      <a:solidFill>
                        <a:srgbClr val="F3F7FF"/>
                      </a:solidFill>
                    </a:lnR>
                    <a:lnB w="0">
                      <a:solidFill>
                        <a:srgbClr val="F3F7FF"/>
                      </a:solidFill>
                    </a:lnB>
                    <a:solidFill>
                      <a:srgbClr val="E4F3F1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2CA62D-ACA6-4B66-ABC2-36DAD85D2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245DE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45DE8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245DE8"/>
                </a:solidFill>
                <a:latin typeface="Segoe UI"/>
                <a:ea typeface="Segoe UI"/>
                <a:cs typeface="Segoe UI"/>
              </a:rPr>
              <a:t>Ступени показывают общий балл эпизода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DF49CC-466F-4ECD-AF16-CE351073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Взгляд в сторону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D64B29-764F-4F61-B660-1F914597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81750"/>
            <a:ext cx="723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2325" b="0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5 / 10 / 20 сек: 3 / 5 / 10 баллов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2A5352-DE0E-4B2B-9B46-B06352CD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715000"/>
            <a:ext cx="571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Второй человек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068B65-D750-427D-84BC-7FB91D2B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381750"/>
            <a:ext cx="571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2325" b="0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До 3 сек: 0</a:t>
            </a:r>
          </a:p>
          <a:p xmlns:a="http://schemas.openxmlformats.org/drawingml/2006/main">
            <a:pPr>
              <a:defRPr sz="2325" b="0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2325" b="0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От 3 сек: 2 балла</a:t>
            </a:r>
          </a:p>
        </p:txBody>
      </p:sp>
    </p:spTree>
    <p:extLst>
      <p:ext uri="{BB962C8B-B14F-4D97-AF65-F5344CB8AC3E}">
        <p14:creationId xmlns:p14="http://schemas.microsoft.com/office/powerpoint/2010/main" val="16175624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983F40-9C0C-4986-88A3-CC0DE3EF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3716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3900" b="1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Преподаватель видит важное первым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9E05E7-124B-4C4F-BC4A-B0BDEDEA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00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526B85"/>
                </a:solidFill>
                <a:latin typeface="Segoe UI"/>
                <a:ea typeface="Segoe UI"/>
                <a:cs typeface="Segoe UI"/>
              </a:rPr>
              <a:t>Sergек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208637-7213-4FD7-BA5F-9595D420C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200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26B85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049C15-7576-43E4-933F-CF2E9462CA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b2e560c393450d"/>
          <a:stretch xmlns:a="http://schemas.openxmlformats.org/drawingml/2006/main"/>
        </p:blipFill>
        <p:spPr>
          <a:xfrm xmlns:a="http://schemas.openxmlformats.org/drawingml/2006/main">
            <a:off x="6096000" y="2187575"/>
            <a:ext cx="8382000" cy="46736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E7C3D9-CEBE-4F0A-A160-AF6436AA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810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850" b="1">
                <a:solidFill>
                  <a:srgbClr val="245DE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245DE8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245DE8"/>
                </a:solidFill>
                <a:latin typeface="Segoe UI"/>
                <a:ea typeface="Segoe UI"/>
                <a:cs typeface="Segoe UI"/>
              </a:rPr>
              <a:t>Очередь по приоритету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F0F721-BA01-4EDC-BD45-4584F9331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5048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Время и история эпизода</a:t>
            </a:r>
          </a:p>
          <a:p xmlns:a="http://schemas.openxmlformats.org/drawingml/2006/main">
            <a:pPr>
              <a:defRPr sz="2250" b="0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Камера, экран и звук</a:t>
            </a:r>
          </a:p>
          <a:p xmlns:a="http://schemas.openxmlformats.org/drawingml/2006/main">
            <a:pPr>
              <a:defRPr sz="2250" b="0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Решение преподавателя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DB1F18-E9F3-4729-AEED-F486B8C02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5095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87E7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7E73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087E73"/>
                </a:solidFill>
                <a:latin typeface="Segoe UI"/>
                <a:ea typeface="Segoe UI"/>
                <a:cs typeface="Segoe UI"/>
              </a:rPr>
              <a:t>Блокировки отдельно</a:t>
            </a:r>
          </a:p>
          <a:p xmlns:a="http://schemas.openxmlformats.org/drawingml/2006/main">
            <a:pPr>
              <a:defRPr sz="2175" b="1">
                <a:solidFill>
                  <a:srgbClr val="087E73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087E73"/>
                </a:solidFill>
                <a:latin typeface="Segoe UI"/>
                <a:ea typeface="Segoe UI"/>
                <a:cs typeface="Segoe UI"/>
              </a:rPr>
              <a:t>в техническом журнале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369E8A-029B-45A2-9015-91907138A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77125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26B85"/>
                </a:solidFill>
                <a:latin typeface="Segoe UI"/>
                <a:ea typeface="Segoe UI"/>
                <a:cs typeface="Segoe UI"/>
              </a:rPr>
              <a:t>AES-GCM: шифрование записей. Хэши и подпись: проверка целостности.</a:t>
            </a:r>
          </a:p>
        </p:txBody>
      </p:sp>
    </p:spTree>
    <p:extLst>
      <p:ext uri="{BB962C8B-B14F-4D97-AF65-F5344CB8AC3E}">
        <p14:creationId xmlns:p14="http://schemas.microsoft.com/office/powerpoint/2010/main" val="1499004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19DA81-6C7F-4D66-B5FB-B08DD048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3716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3900" b="1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Выбор для компьютерной аудитории КРУ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01A859-49D5-4523-AB1F-A5475C254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00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526B85"/>
                </a:solidFill>
                <a:latin typeface="Segoe UI"/>
                <a:ea typeface="Segoe UI"/>
                <a:cs typeface="Segoe UI"/>
              </a:rPr>
              <a:t>Sergек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8BA3C3-55B9-4AD3-8B67-119AB54C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200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26B85"/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EB6E6C-1905-4FDD-BE2C-D940EDE1AC25}"/>
              </a:ext>
            </a:extLst>
          </p:cNvPr>
          <p:cNvGraphicFramePr/>
          <p:nvPr/>
        </p:nvGraphicFramePr>
        <p:xfrm>
          <a:off xmlns:a="http://schemas.openxmlformats.org/drawingml/2006/main" x="762000" y="1952625"/>
          <a:ext xmlns:a="http://schemas.openxmlformats.org/drawingml/2006/main" cx="137160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62375"/>
                <a:gridCol w="9953625"/>
              </a:tblGrid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3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Решение</a:t>
                      </a:r>
                    </a:p>
                  </a:txBody>
                  <a:tcPr marL="91440" marR="91440" marT="45720" marB="45720">
                    <a:lnL w="0">
                      <a:solidFill>
                        <a:srgbClr val="F3F7FF"/>
                      </a:solidFill>
                    </a:lnL>
                    <a:lnR w="0">
                      <a:solidFill>
                        <a:srgbClr val="F3F7FF"/>
                      </a:solidFill>
                    </a:lnR>
                    <a:lnT w="0">
                      <a:solidFill>
                        <a:srgbClr val="F3F7FF"/>
                      </a:solidFill>
                    </a:lnT>
                    <a:lnB w="0">
                      <a:solidFill>
                        <a:srgbClr val="F3F7FF"/>
                      </a:solidFill>
                    </a:lnB>
                    <a:solidFill>
                      <a:srgbClr val="245D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Основной фокус</a:t>
                      </a:r>
                    </a:p>
                  </a:txBody>
                  <a:tcPr marL="91440" marR="91440" marT="45720" marB="45720">
                    <a:lnR w="0">
                      <a:solidFill>
                        <a:srgbClr val="F3F7FF"/>
                      </a:solidFill>
                    </a:lnR>
                    <a:lnT w="0">
                      <a:solidFill>
                        <a:srgbClr val="F3F7FF"/>
                      </a:solidFill>
                    </a:lnT>
                    <a:lnB w="0">
                      <a:solidFill>
                        <a:srgbClr val="F3F7FF"/>
                      </a:solidFill>
                    </a:lnB>
                    <a:solidFill>
                      <a:srgbClr val="245DE8"/>
                    </a:solidFill>
                  </a:tcPr>
                </a:tc>
              </a:tr>
              <a:tr h="952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325" b="1">
                          <a:solidFill>
                            <a:srgbClr val="163453"/>
                          </a:solidFill>
                          <a:latin typeface="Segoe UI"/>
                          <a:ea typeface="Segoe UI"/>
                          <a:cs typeface="Segoe UI"/>
                        </a:rPr>
                        <a:t>Safe Exam Browser</a:t>
                      </a:r>
                    </a:p>
                  </a:txBody>
                  <a:tcPr marL="91440" marR="91440" marT="45720" marB="45720">
                    <a:lnL w="0">
                      <a:solidFill>
                        <a:srgbClr val="F3F7FF"/>
                      </a:solidFill>
                    </a:lnL>
                    <a:lnR w="0">
                      <a:solidFill>
                        <a:srgbClr val="F3F7FF"/>
                      </a:solidFill>
                    </a:lnR>
                    <a:lnB w="0">
                      <a:solidFill>
                        <a:srgbClr val="F3F7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163453"/>
                          </a:solidFill>
                          <a:latin typeface="Segoe UI"/>
                          <a:ea typeface="Segoe UI"/>
                          <a:cs typeface="Segoe UI"/>
                        </a:rPr>
                        <a:t>Защищённый экзаменационный браузер</a:t>
                      </a:r>
                    </a:p>
                  </a:txBody>
                  <a:tcPr marL="91440" marR="91440" marT="45720" marB="45720">
                    <a:lnR w="0">
                      <a:solidFill>
                        <a:srgbClr val="F3F7FF"/>
                      </a:solidFill>
                    </a:lnR>
                    <a:lnB w="0">
                      <a:solidFill>
                        <a:srgbClr val="F3F7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325" b="1">
                          <a:solidFill>
                            <a:srgbClr val="163453"/>
                          </a:solidFill>
                          <a:latin typeface="Segoe UI"/>
                          <a:ea typeface="Segoe UI"/>
                          <a:cs typeface="Segoe UI"/>
                        </a:rPr>
                        <a:t>OES</a:t>
                      </a:r>
                    </a:p>
                  </a:txBody>
                  <a:tcPr marL="91440" marR="91440" marT="45720" marB="45720">
                    <a:lnL w="0">
                      <a:solidFill>
                        <a:srgbClr val="F3F7FF"/>
                      </a:solidFill>
                    </a:lnL>
                    <a:lnR w="0">
                      <a:solidFill>
                        <a:srgbClr val="F3F7FF"/>
                      </a:solidFill>
                    </a:lnR>
                    <a:lnB w="0">
                      <a:solidFill>
                        <a:srgbClr val="F3F7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163453"/>
                          </a:solidFill>
                          <a:latin typeface="Segoe UI"/>
                          <a:ea typeface="Segoe UI"/>
                          <a:cs typeface="Segoe UI"/>
                        </a:rPr>
                        <a:t>Готовая платформа прокторинга и отчётов</a:t>
                      </a:r>
                    </a:p>
                  </a:txBody>
                  <a:tcPr marL="91440" marR="91440" marT="45720" marB="45720">
                    <a:lnR w="0">
                      <a:solidFill>
                        <a:srgbClr val="F3F7FF"/>
                      </a:solidFill>
                    </a:lnR>
                    <a:lnB w="0">
                      <a:solidFill>
                        <a:srgbClr val="F3F7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95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325" b="1">
                          <a:solidFill>
                            <a:srgbClr val="163453"/>
                          </a:solidFill>
                          <a:latin typeface="Segoe UI"/>
                          <a:ea typeface="Segoe UI"/>
                          <a:cs typeface="Segoe UI"/>
                        </a:rPr>
                        <a:t>Sergек</a:t>
                      </a:r>
                    </a:p>
                  </a:txBody>
                  <a:tcPr marL="91440" marR="91440" marT="45720" marB="45720">
                    <a:lnL w="0">
                      <a:solidFill>
                        <a:srgbClr val="F3F7FF"/>
                      </a:solidFill>
                    </a:lnL>
                    <a:lnR w="0">
                      <a:solidFill>
                        <a:srgbClr val="F3F7FF"/>
                      </a:solidFill>
                    </a:lnR>
                    <a:lnB w="0">
                      <a:solidFill>
                        <a:srgbClr val="F3F7FF"/>
                      </a:solidFill>
                    </a:lnB>
                    <a:solidFill>
                      <a:srgbClr val="E4F3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163453"/>
                          </a:solidFill>
                          <a:latin typeface="Segoe UI"/>
                          <a:ea typeface="Segoe UI"/>
                          <a:cs typeface="Segoe UI"/>
                        </a:rPr>
                        <a:t>Локальный AI, собственный хаб и открытый код</a:t>
                      </a:r>
                    </a:p>
                  </a:txBody>
                  <a:tcPr marL="91440" marR="91440" marT="45720" marB="45720">
                    <a:lnR w="0">
                      <a:solidFill>
                        <a:srgbClr val="F3F7FF"/>
                      </a:solidFill>
                    </a:lnR>
                    <a:lnB w="0">
                      <a:solidFill>
                        <a:srgbClr val="F3F7FF"/>
                      </a:solidFill>
                    </a:lnB>
                    <a:solidFill>
                      <a:srgbClr val="E4F3F1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7F008A-A8B5-4900-871D-CC24D5085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13716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75" b="1">
                <a:solidFill>
                  <a:srgbClr val="087E7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087E73"/>
                </a:solidFill>
                <a:latin typeface="Segoe UI"/>
                <a:ea typeface="Segoe UI"/>
                <a:cs typeface="Segoe UI"/>
              </a:defRPr>
            </a:pPr>
            <a:r>
              <a:rPr sz="2775" b="1">
                <a:solidFill>
                  <a:srgbClr val="087E73"/>
                </a:solidFill>
                <a:latin typeface="Segoe UI"/>
                <a:ea typeface="Segoe UI"/>
                <a:cs typeface="Segoe UI"/>
              </a:rPr>
              <a:t>Наш акцент: немедленное предупреждение</a:t>
            </a:r>
          </a:p>
          <a:p xmlns:a="http://schemas.openxmlformats.org/drawingml/2006/main">
            <a:pPr>
              <a:defRPr sz="2775" b="1">
                <a:solidFill>
                  <a:srgbClr val="087E73"/>
                </a:solidFill>
                <a:latin typeface="Segoe UI"/>
                <a:ea typeface="Segoe UI"/>
                <a:cs typeface="Segoe UI"/>
              </a:defRPr>
            </a:pPr>
            <a:r>
              <a:rPr sz="2775" b="1">
                <a:solidFill>
                  <a:srgbClr val="087E73"/>
                </a:solidFill>
                <a:latin typeface="Segoe UI"/>
                <a:ea typeface="Segoe UI"/>
                <a:cs typeface="Segoe UI"/>
              </a:rPr>
              <a:t>и объяснимая очередь проверки по длительности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194DB2-0941-4337-A0E9-5FB3F2F4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77125"/>
            <a:ext cx="1371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526B85"/>
                </a:solidFill>
                <a:latin typeface="Segoe UI"/>
                <a:ea typeface="Segoe UI"/>
                <a:cs typeface="Segoe UI"/>
              </a:rPr>
              <a:t>Интерфейс: қазақша / русский / English</a:t>
            </a:r>
          </a:p>
        </p:txBody>
      </p:sp>
    </p:spTree>
    <p:extLst>
      <p:ext uri="{BB962C8B-B14F-4D97-AF65-F5344CB8AC3E}">
        <p14:creationId xmlns:p14="http://schemas.microsoft.com/office/powerpoint/2010/main" val="9543822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00F14F-4E5E-436C-B425-50C54029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3716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3900" b="1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Проверки с воспроизводимым результатом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EC3D2A-30CC-4E75-95D7-583653E91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00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526B85"/>
                </a:solidFill>
                <a:latin typeface="Segoe UI"/>
                <a:ea typeface="Segoe UI"/>
                <a:cs typeface="Segoe UI"/>
              </a:rPr>
              <a:t>Sergек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A55A04-2413-45C1-A63A-E80DB9E30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200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26B85"/>
                </a:solidFill>
                <a:latin typeface="Segoe UI"/>
                <a:ea typeface="Segoe UI"/>
                <a:cs typeface="Segoe U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3A77C8-8C18-40EF-BEB4-2B08927C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7950" b="1">
                <a:solidFill>
                  <a:srgbClr val="245DE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7950" b="1">
                <a:solidFill>
                  <a:srgbClr val="245DE8"/>
                </a:solidFill>
                <a:latin typeface="Segoe UI"/>
                <a:ea typeface="Segoe UI"/>
                <a:cs typeface="Segoe UI"/>
              </a:defRPr>
            </a:pPr>
            <a:r>
              <a:rPr sz="7950" b="1">
                <a:solidFill>
                  <a:srgbClr val="245DE8"/>
                </a:solidFill>
                <a:latin typeface="Segoe UI"/>
                <a:ea typeface="Segoe UI"/>
                <a:cs typeface="Segoe UI"/>
              </a:rPr>
              <a:t>249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BF8AEF-8FBC-4030-BBEC-F04D557C8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400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тестов серверной логики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D49CCC-7E2D-4BCA-AB14-8A59ED180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0025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7950" b="1">
                <a:solidFill>
                  <a:srgbClr val="245DE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7950" b="1">
                <a:solidFill>
                  <a:srgbClr val="245DE8"/>
                </a:solidFill>
                <a:latin typeface="Segoe UI"/>
                <a:ea typeface="Segoe UI"/>
                <a:cs typeface="Segoe UI"/>
              </a:defRPr>
            </a:pPr>
            <a:r>
              <a:rPr sz="7950" b="1">
                <a:solidFill>
                  <a:srgbClr val="245DE8"/>
                </a:solidFill>
                <a:latin typeface="Segoe UI"/>
                <a:ea typeface="Segoe UI"/>
                <a:cs typeface="Segoe UI"/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6E4D79-C5F7-48DA-A2E4-23DDA154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67125"/>
            <a:ext cx="400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сценариев интерфейса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C3A048-5C8A-4349-AC03-CEAED2A0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00025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7950" b="1">
                <a:solidFill>
                  <a:srgbClr val="245DE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7950" b="1">
                <a:solidFill>
                  <a:srgbClr val="245DE8"/>
                </a:solidFill>
                <a:latin typeface="Segoe UI"/>
                <a:ea typeface="Segoe UI"/>
                <a:cs typeface="Segoe UI"/>
              </a:defRPr>
            </a:pPr>
            <a:r>
              <a:rPr sz="7950" b="1">
                <a:solidFill>
                  <a:srgbClr val="245DE8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DECFF1-B9F0-4C71-8A24-78FC8FC54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667125"/>
            <a:ext cx="400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вопросов в полном</a:t>
            </a:r>
          </a:p>
          <a:p xmlns:a="http://schemas.openxmlformats.org/drawingml/2006/main">
            <a:pPr>
              <a:defRPr sz="2175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цикле Moodle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C822EB-97EA-4B25-ABD0-050BD5BE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087E7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087E73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087E73"/>
                </a:solidFill>
                <a:latin typeface="Segoe UI"/>
                <a:ea typeface="Segoe UI"/>
                <a:cs typeface="Segoe UI"/>
              </a:rPr>
              <a:t>HTTPS-хаб: 100 синтетических сессий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C76559-98D5-462A-A4C4-65330319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100 завершены. Ошибок запросов и целостности: 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43CF6E-0864-4395-80DB-611E5459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77125"/>
            <a:ext cx="1371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26B85"/>
                </a:solidFill>
                <a:latin typeface="Segoe UI"/>
                <a:ea typeface="Segoe UI"/>
                <a:cs typeface="Segoe UI"/>
              </a:rPr>
              <a:t>Автоматические проверки и программный стенд / 15.10.2026</a:t>
            </a:r>
          </a:p>
        </p:txBody>
      </p:sp>
    </p:spTree>
    <p:extLst>
      <p:ext uri="{BB962C8B-B14F-4D97-AF65-F5344CB8AC3E}">
        <p14:creationId xmlns:p14="http://schemas.microsoft.com/office/powerpoint/2010/main" val="5852887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4A8D64-AE6D-4071-BC1A-D83D300E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3716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3900" b="1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Подключение к существующему Moodle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2FD845-42F5-4D71-BF55-B617E4C6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00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526B85"/>
                </a:solidFill>
                <a:latin typeface="Segoe UI"/>
                <a:ea typeface="Segoe UI"/>
                <a:cs typeface="Segoe UI"/>
              </a:rPr>
              <a:t>Sergек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1F32D1-F545-4657-913F-12C46EADA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200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26B85"/>
                </a:solidFill>
                <a:latin typeface="Segoe UI"/>
                <a:ea typeface="Segoe UI"/>
                <a:cs typeface="Segoe U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0A0317-9430-491F-845D-C93FA0807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4000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245DE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45DE8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245DE8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BDFC01-2E75-4DAB-8560-74046EEC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409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75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2775" b="1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Хаб вуза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FFC370-FE40-417C-B483-61D6B49F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4095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526B85"/>
                </a:solidFill>
                <a:latin typeface="Segoe UI"/>
                <a:ea typeface="Segoe UI"/>
                <a:cs typeface="Segoe UI"/>
              </a:rPr>
              <a:t>HTTPS и роли доступа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224B9D-B144-4851-B65A-4A2F9493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52625"/>
            <a:ext cx="4000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245DE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45DE8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245DE8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80F7E8-05A4-4AC5-A1DC-B6BDBAEF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57500"/>
            <a:ext cx="409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75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2775" b="1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Плагин Moodle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A1DB00-2DBF-4772-AFD4-9C42087D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714750"/>
            <a:ext cx="4095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526B85"/>
                </a:solidFill>
                <a:latin typeface="Segoe UI"/>
                <a:ea typeface="Segoe UI"/>
                <a:cs typeface="Segoe UI"/>
              </a:rPr>
              <a:t>Защита выбранного теста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DD174A-9C4F-4D49-BCDC-46D284B84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952625"/>
            <a:ext cx="4000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245DE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45DE8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245DE8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00998A-F98C-4ED2-9234-2277855F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857500"/>
            <a:ext cx="409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75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2775" b="1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Агент Windows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38073D-3F71-4EAB-A462-2770729E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714750"/>
            <a:ext cx="4095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526B85"/>
                </a:solidFill>
                <a:latin typeface="Segoe UI"/>
                <a:ea typeface="Segoe UI"/>
                <a:cs typeface="Segoe UI"/>
              </a:rPr>
              <a:t>Подготовленные компьютеры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175870-BB5C-4B5D-9820-CED241C8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571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925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2925" b="1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Предлагаем пилот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99AE1D-E22E-463A-8094-18D6E3AB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4500" b="1">
                <a:solidFill>
                  <a:srgbClr val="087E7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4500" b="1">
                <a:solidFill>
                  <a:srgbClr val="087E73"/>
                </a:solidFill>
                <a:latin typeface="Segoe UI"/>
                <a:ea typeface="Segoe UI"/>
                <a:cs typeface="Segoe UI"/>
              </a:defRPr>
            </a:pPr>
            <a:r>
              <a:rPr sz="4500" b="1">
                <a:solidFill>
                  <a:srgbClr val="087E73"/>
                </a:solidFill>
                <a:latin typeface="Segoe UI"/>
                <a:ea typeface="Segoe UI"/>
                <a:cs typeface="Segoe UI"/>
              </a:rPr>
              <a:t>30 мест / 2 экзамена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DC8BFD-6061-45D8-909E-0263A6B9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81875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526B85"/>
                </a:solidFill>
                <a:latin typeface="Segoe UI"/>
                <a:ea typeface="Segoe UI"/>
                <a:cs typeface="Segoe UI"/>
              </a:rPr>
              <a:t>Измеряем завершение попыток, время проверки и качество сигналов</a:t>
            </a:r>
          </a:p>
        </p:txBody>
      </p:sp>
    </p:spTree>
    <p:extLst>
      <p:ext uri="{BB962C8B-B14F-4D97-AF65-F5344CB8AC3E}">
        <p14:creationId xmlns:p14="http://schemas.microsoft.com/office/powerpoint/2010/main" val="8900381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E91230-5220-46B3-BA7E-167B885B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00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526B85"/>
                </a:solidFill>
                <a:latin typeface="Segoe UI"/>
                <a:ea typeface="Segoe UI"/>
                <a:cs typeface="Segoe UI"/>
              </a:rPr>
              <a:t>Sergек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94B6CA-61B9-444F-B0AF-7ACDE89E6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200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26B85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E5FC8A-BF44-4A88-B68F-10EFAEDBCD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de6a1d4bdd4fe2"/>
          <a:stretch xmlns:a="http://schemas.openxmlformats.org/drawingml/2006/main"/>
        </p:blipFill>
        <p:spPr>
          <a:xfrm xmlns:a="http://schemas.openxmlformats.org/drawingml/2006/main">
            <a:off x="4049" y="0"/>
            <a:ext cx="15231902" cy="8572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91D7B9-9489-47C3-87C6-655EE24D5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7239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8400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8400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8400" b="1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Sergек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AD0769-B166-49B1-BFD3-8E3BCAD25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76625"/>
            <a:ext cx="7620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Предупреждает сразу.</a:t>
            </a:r>
          </a:p>
          <a:p xmlns:a="http://schemas.openxmlformats.org/drawingml/2006/main">
            <a:pPr>
              <a:defRPr sz="3450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Сохраняет контекст.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B87FED-9743-48F5-A1A3-920CE1CD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429250"/>
            <a:ext cx="790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850" b="1">
                <a:solidFill>
                  <a:srgbClr val="087E7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087E73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087E73"/>
                </a:solidFill>
                <a:latin typeface="Segoe UI"/>
                <a:ea typeface="Segoe UI"/>
                <a:cs typeface="Segoe UI"/>
              </a:rPr>
              <a:t>Готовы к пилоту с КРУ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1B8D87-6877-4084-B6C2-E65D1B8F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77000"/>
            <a:ext cx="838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Astana IT University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D81166-A532-4952-AFD8-A3032905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048500"/>
            <a:ext cx="1304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Бердібек Мейірбек / Алхамқайыр Бекзат / Сабыр Аслан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FD6DBA-73F7-44CA-994B-16E10929C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620000"/>
            <a:ext cx="1304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26B85"/>
                </a:solidFill>
                <a:latin typeface="Segoe UI"/>
                <a:ea typeface="Segoe UI"/>
                <a:cs typeface="Segoe UI"/>
              </a:rPr>
              <a:t>+7 775 747 86 01 / berdibekmejirbek08@gmail.com</a:t>
            </a:r>
          </a:p>
        </p:txBody>
      </p:sp>
    </p:spTree>
    <p:extLst>
      <p:ext uri="{BB962C8B-B14F-4D97-AF65-F5344CB8AC3E}">
        <p14:creationId xmlns:p14="http://schemas.microsoft.com/office/powerpoint/2010/main" val="282383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2026-10-15T19:02:04.0660000Z</dcterms:created>
  <dcterms:modified xsi:type="dcterms:W3CDTF">2026-10-15T19:02:04.0660000Z</dcterms:modified>
</coreProperties>
</file>